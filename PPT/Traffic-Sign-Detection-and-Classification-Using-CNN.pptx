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Fragment Mono"/>
      <p:regular r:id="rId201314"/>
    </p:embeddedFont>
    <p:embeddedFont>
      <p:font typeface="Inter Tight"/>
      <p:regular r:id="rId201315"/>
    </p:embeddedFont>
    <p:embeddedFont>
      <p:font typeface="Inter Tight SemiBold"/>
      <p:regular r:id="rId201316"/>
    </p:embeddedFont>
    <p:embeddedFont>
      <p:font typeface="Inter Tight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presents an end-to-end convolutional neural network pipeline for classifying traffic-sign images. The current scope is image classification, while full-scene detection remains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task is a controlled classification problem. The model receives an image containing a traffic sign and returns a class prediction. Full-scene object detection is deliberately outside the current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combines 43 classes with the variation expected in real images. Exploratory analysis checked both the labels and the image properties before training, while memory-efficient loading and class weights addressed practical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standardizes the tensor entering the network while preserving sign semantics. Augmentation adds controlled variation, but horizontal flipping is excluded because it can change the meaning of a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keeps the final evaluation separate and preserves the intended proportions. Training receives 10,822 images, while validation and testing each contain 2,319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moves from the image tensor to learned visual features, then to class patterns and probabilities. The five stages make explicit what the network does before the final 43-class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established the training controls. Keras Tuner Random Search then tested eight combinations, selecting the configuration with 32 and 128 convolution filters, 128 dense units, dropout 0.4, learning rate 0.001, and batch size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tuned model improves every reported test metric. Accuracy rises from 99.35% to 99.53%, while macro precision and macro recall both reach 99.57%.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analysis combined classification reports, a confusion matrix, per-class F1-scores, and visual inspection. Of 2,319 test images, 2,308 were classified correctly and 11 were misclassified.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already exposes a reusable prediction function and saved model artifacts. The next extensions are live camera input, full-scene object detection, web or mobile deployment, and broader validation in real-world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A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AFAFA"/>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AFA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93420"/>
            <a:ext cx="441948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0"/>
              </a:rPr>
              <a:t>PRAICP-1002 · TRAFSIGNDETC</a:t>
            </a:r>
            <a:endParaRPr lang="en-US" sz="1300" dirty="0"/>
          </a:p>
        </p:txBody>
      </p:sp>
      <p:sp>
        <p:nvSpPr>
          <p:cNvPr id="3" name="Text 1"/>
          <p:cNvSpPr/>
          <p:nvPr/>
        </p:nvSpPr>
        <p:spPr>
          <a:xfrm>
            <a:off x="609585" y="3644265"/>
            <a:ext cx="7746806" cy="2026741"/>
          </a:xfrm>
          <a:prstGeom prst="rect">
            <a:avLst/>
          </a:prstGeom>
          <a:noFill/>
          <a:ln/>
        </p:spPr>
        <p:txBody>
          <a:bodyPr wrap="square" lIns="0" tIns="0" rIns="0" bIns="0" rtlCol="0" anchor="t">
            <a:normAutofit/>
          </a:bodyPr>
          <a:lstStyle/>
          <a:p>
            <a:pPr algn="l" indent="0" marL="0">
              <a:lnSpc>
                <a:spcPct val="79000"/>
              </a:lnSpc>
              <a:buNone/>
            </a:pPr>
            <a:r>
              <a:rPr lang="en-US" sz="5600" spc="-252" kern="100" dirty="0">
                <a:solidFill>
                  <a:srgbClr val="1A1A1A"/>
                </a:solidFill>
                <a:latin typeface="Inter Tight SemiBold" pitchFamily="34" charset="0"/>
                <a:ea typeface="Inter Tight SemiBold" pitchFamily="34" charset="-122"/>
                <a:cs typeface="Inter Tight SemiBold" pitchFamily="34" charset="0"/>
              </a:rPr>
              <a:t>Traffic Sign</a:t>
            </a:r>
            <a:endParaRPr lang="en-US" sz="5600" dirty="0"/>
          </a:p>
          <a:p>
            <a:pPr algn="l" indent="0" marL="0">
              <a:lnSpc>
                <a:spcPct val="79000"/>
              </a:lnSpc>
              <a:buNone/>
            </a:pPr>
            <a:r>
              <a:rPr lang="en-US" sz="5600" spc="-252" kern="100" dirty="0">
                <a:solidFill>
                  <a:srgbClr val="1A1A1A"/>
                </a:solidFill>
                <a:latin typeface="Inter Tight SemiBold" pitchFamily="34" charset="0"/>
                <a:ea typeface="Inter Tight SemiBold" pitchFamily="34" charset="-122"/>
                <a:cs typeface="Inter Tight SemiBold" pitchFamily="34" charset="0"/>
              </a:rPr>
              <a:t>Detection and</a:t>
            </a:r>
            <a:endParaRPr lang="en-US" sz="5600" dirty="0"/>
          </a:p>
          <a:p>
            <a:pPr algn="l" indent="0" marL="0">
              <a:lnSpc>
                <a:spcPct val="79000"/>
              </a:lnSpc>
              <a:buNone/>
            </a:pPr>
            <a:r>
              <a:rPr lang="en-US" sz="5600" spc="-252" kern="100" dirty="0">
                <a:solidFill>
                  <a:srgbClr val="1A1A1A"/>
                </a:solidFill>
                <a:latin typeface="Inter Tight SemiBold" pitchFamily="34" charset="0"/>
                <a:ea typeface="Inter Tight SemiBold" pitchFamily="34" charset="-122"/>
                <a:cs typeface="Inter Tight SemiBold" pitchFamily="34" charset="0"/>
              </a:rPr>
              <a:t>Classification Using CNN</a:t>
            </a:r>
            <a:endParaRPr lang="en-US" sz="5600" dirty="0"/>
          </a:p>
        </p:txBody>
      </p:sp>
      <p:sp>
        <p:nvSpPr>
          <p:cNvPr id="4" name="Text 2"/>
          <p:cNvSpPr/>
          <p:nvPr/>
        </p:nvSpPr>
        <p:spPr>
          <a:xfrm>
            <a:off x="609585" y="5802134"/>
            <a:ext cx="8356391" cy="214610"/>
          </a:xfrm>
          <a:prstGeom prst="rect">
            <a:avLst/>
          </a:prstGeom>
          <a:noFill/>
          <a:ln/>
        </p:spPr>
        <p:txBody>
          <a:bodyPr wrap="none" lIns="0" tIns="0" rIns="0" bIns="0" rtlCol="0" anchor="t"/>
          <a:lstStyle/>
          <a:p>
            <a:pPr algn="l" indent="0" marL="0">
              <a:lnSpc>
                <a:spcPct val="108000"/>
              </a:lnSpc>
              <a:buNone/>
            </a:pPr>
            <a:r>
              <a:rPr lang="en-US" sz="1300" dirty="0">
                <a:solidFill>
                  <a:srgbClr val="1A1A1A"/>
                </a:solidFill>
                <a:latin typeface="Fragment Mono" pitchFamily="34" charset="0"/>
                <a:ea typeface="Fragment Mono" pitchFamily="34" charset="-122"/>
                <a:cs typeface="Fragment Mono" pitchFamily="34" charset="0"/>
              </a:rPr>
              <a:t>ARTIFICIAL INTELLIGENCE CAPSTONE PROJECT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8786" y="425895"/>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0"/>
              </a:rPr>
              <a:t>The project turns a traffic-sign image into a class prediction</a:t>
            </a:r>
            <a:endParaRPr lang="en-US" sz="3400" dirty="0"/>
          </a:p>
        </p:txBody>
      </p:sp>
      <p:sp>
        <p:nvSpPr>
          <p:cNvPr id="3" name="Shape 1"/>
          <p:cNvSpPr/>
          <p:nvPr/>
        </p:nvSpPr>
        <p:spPr>
          <a:xfrm>
            <a:off x="558786" y="1725315"/>
            <a:ext cx="11074123" cy="375841"/>
          </a:xfrm>
          <a:prstGeom prst="rect">
            <a:avLst/>
          </a:prstGeom>
          <a:solidFill>
            <a:srgbClr val="1A1A1A"/>
          </a:solidFill>
          <a:ln/>
        </p:spPr>
      </p:sp>
      <p:sp>
        <p:nvSpPr>
          <p:cNvPr id="4" name="Text 2"/>
          <p:cNvSpPr/>
          <p:nvPr/>
        </p:nvSpPr>
        <p:spPr>
          <a:xfrm>
            <a:off x="711182" y="1821835"/>
            <a:ext cx="10921727"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0"/>
              </a:rPr>
              <a:t>PIPELINE.TXT</a:t>
            </a:r>
            <a:endParaRPr lang="en-US" sz="1300" dirty="0"/>
          </a:p>
        </p:txBody>
      </p:sp>
      <p:sp>
        <p:nvSpPr>
          <p:cNvPr id="5" name="Shape 3"/>
          <p:cNvSpPr/>
          <p:nvPr/>
        </p:nvSpPr>
        <p:spPr>
          <a:xfrm>
            <a:off x="558786" y="2101155"/>
            <a:ext cx="11074123" cy="3463429"/>
          </a:xfrm>
          <a:prstGeom prst="rect">
            <a:avLst/>
          </a:prstGeom>
          <a:solidFill>
            <a:srgbClr val="E6E6EA"/>
          </a:solidFill>
          <a:ln w="12700">
            <a:solidFill>
              <a:srgbClr val="1A1A1A"/>
            </a:solidFill>
            <a:prstDash val="solid"/>
          </a:ln>
        </p:spPr>
      </p:sp>
      <p:pic>
        <p:nvPicPr>
          <p:cNvPr id="6" name="Image 0" descr="preencoded.png">    </p:cNvPr>
          <p:cNvPicPr>
            <a:picLocks noChangeAspect="1"/>
          </p:cNvPicPr>
          <p:nvPr/>
        </p:nvPicPr>
        <p:blipFill>
          <a:blip r:embed="rId1"/>
          <a:stretch>
            <a:fillRect/>
          </a:stretch>
        </p:blipFill>
        <p:spPr>
          <a:xfrm>
            <a:off x="850879" y="2355155"/>
            <a:ext cx="355591" cy="355600"/>
          </a:xfrm>
          <a:prstGeom prst="rect">
            <a:avLst/>
          </a:prstGeom>
        </p:spPr>
      </p:pic>
      <p:sp>
        <p:nvSpPr>
          <p:cNvPr id="7" name="Text 4"/>
          <p:cNvSpPr/>
          <p:nvPr/>
        </p:nvSpPr>
        <p:spPr>
          <a:xfrm>
            <a:off x="1358866" y="2332137"/>
            <a:ext cx="998195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0"/>
              </a:rPr>
              <a:t>Problem</a:t>
            </a:r>
            <a:endParaRPr lang="en-US" sz="1900" dirty="0"/>
          </a:p>
        </p:txBody>
      </p:sp>
      <p:sp>
        <p:nvSpPr>
          <p:cNvPr id="8" name="Text 5"/>
          <p:cNvSpPr/>
          <p:nvPr/>
        </p:nvSpPr>
        <p:spPr>
          <a:xfrm>
            <a:off x="1358866" y="2778780"/>
            <a:ext cx="9981950" cy="248543"/>
          </a:xfrm>
          <a:prstGeom prst="rect">
            <a:avLst/>
          </a:prstGeom>
          <a:noFill/>
          <a:ln/>
        </p:spPr>
        <p:txBody>
          <a:bodyPr wrap="none" lIns="0" tIns="0" rIns="0" bIns="0" rtlCol="0" anchor="t"/>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0"/>
              </a:rPr>
              <a:t>Lighting, blur, viewing angle, and sign variation make recognition difficult.</a:t>
            </a:r>
            <a:endParaRPr lang="en-US" sz="1450" dirty="0"/>
          </a:p>
        </p:txBody>
      </p:sp>
      <p:pic>
        <p:nvPicPr>
          <p:cNvPr id="9" name="Image 1" descr="preencoded.png">    </p:cNvPr>
          <p:cNvPicPr>
            <a:picLocks noChangeAspect="1"/>
          </p:cNvPicPr>
          <p:nvPr/>
        </p:nvPicPr>
        <p:blipFill>
          <a:blip r:embed="rId2"/>
          <a:stretch>
            <a:fillRect/>
          </a:stretch>
        </p:blipFill>
        <p:spPr>
          <a:xfrm>
            <a:off x="850879" y="3518098"/>
            <a:ext cx="355591" cy="355600"/>
          </a:xfrm>
          <a:prstGeom prst="rect">
            <a:avLst/>
          </a:prstGeom>
        </p:spPr>
      </p:pic>
      <p:sp>
        <p:nvSpPr>
          <p:cNvPr id="10" name="Text 6"/>
          <p:cNvSpPr/>
          <p:nvPr/>
        </p:nvSpPr>
        <p:spPr>
          <a:xfrm>
            <a:off x="1358866" y="3495080"/>
            <a:ext cx="998195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0"/>
              </a:rPr>
              <a:t>Solution</a:t>
            </a:r>
            <a:endParaRPr lang="en-US" sz="1900" dirty="0"/>
          </a:p>
        </p:txBody>
      </p:sp>
      <p:sp>
        <p:nvSpPr>
          <p:cNvPr id="11" name="Text 7"/>
          <p:cNvSpPr/>
          <p:nvPr/>
        </p:nvSpPr>
        <p:spPr>
          <a:xfrm>
            <a:off x="1358866" y="3941723"/>
            <a:ext cx="9981950" cy="248543"/>
          </a:xfrm>
          <a:prstGeom prst="rect">
            <a:avLst/>
          </a:prstGeom>
          <a:noFill/>
          <a:ln/>
        </p:spPr>
        <p:txBody>
          <a:bodyPr wrap="none" lIns="0" tIns="0" rIns="0" bIns="0" rtlCol="0" anchor="t"/>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0"/>
              </a:rPr>
              <a:t>An end-to-end CNN pipeline performs image classification.</a:t>
            </a:r>
            <a:endParaRPr lang="en-US" sz="1450" dirty="0"/>
          </a:p>
        </p:txBody>
      </p:sp>
      <p:pic>
        <p:nvPicPr>
          <p:cNvPr id="12" name="Image 2" descr="preencoded.png">    </p:cNvPr>
          <p:cNvPicPr>
            <a:picLocks noChangeAspect="1"/>
          </p:cNvPicPr>
          <p:nvPr/>
        </p:nvPicPr>
        <p:blipFill>
          <a:blip r:embed="rId3"/>
          <a:stretch>
            <a:fillRect/>
          </a:stretch>
        </p:blipFill>
        <p:spPr>
          <a:xfrm>
            <a:off x="850879" y="4681041"/>
            <a:ext cx="355591" cy="355600"/>
          </a:xfrm>
          <a:prstGeom prst="rect">
            <a:avLst/>
          </a:prstGeom>
        </p:spPr>
      </p:pic>
      <p:sp>
        <p:nvSpPr>
          <p:cNvPr id="13" name="Text 8"/>
          <p:cNvSpPr/>
          <p:nvPr/>
        </p:nvSpPr>
        <p:spPr>
          <a:xfrm>
            <a:off x="1358866" y="4658023"/>
            <a:ext cx="998195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0"/>
              </a:rPr>
              <a:t>Scope</a:t>
            </a:r>
            <a:endParaRPr lang="en-US" sz="1900" dirty="0"/>
          </a:p>
        </p:txBody>
      </p:sp>
      <p:sp>
        <p:nvSpPr>
          <p:cNvPr id="14" name="Text 9"/>
          <p:cNvSpPr/>
          <p:nvPr/>
        </p:nvSpPr>
        <p:spPr>
          <a:xfrm>
            <a:off x="1358866" y="5104666"/>
            <a:ext cx="9981950" cy="248543"/>
          </a:xfrm>
          <a:prstGeom prst="rect">
            <a:avLst/>
          </a:prstGeom>
          <a:noFill/>
          <a:ln/>
        </p:spPr>
        <p:txBody>
          <a:bodyPr wrap="none" lIns="0" tIns="0" rIns="0" bIns="0" rtlCol="0" anchor="t"/>
          <a:lstStyle/>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0"/>
              </a:rPr>
              <a:t>Classify an image containing a sign; full-scene detection is future work.</a:t>
            </a:r>
            <a:endParaRPr lang="en-US" sz="1450" dirty="0"/>
          </a:p>
        </p:txBody>
      </p:sp>
      <p:sp>
        <p:nvSpPr>
          <p:cNvPr id="15" name="Shape 10"/>
          <p:cNvSpPr/>
          <p:nvPr/>
        </p:nvSpPr>
        <p:spPr>
          <a:xfrm>
            <a:off x="850879" y="3245048"/>
            <a:ext cx="10489938" cy="12700"/>
          </a:xfrm>
          <a:prstGeom prst="rect">
            <a:avLst/>
          </a:prstGeom>
          <a:solidFill>
            <a:srgbClr val="1A1A1A"/>
          </a:solidFill>
          <a:ln/>
        </p:spPr>
      </p:sp>
      <p:sp>
        <p:nvSpPr>
          <p:cNvPr id="16" name="Shape 11"/>
          <p:cNvSpPr/>
          <p:nvPr/>
        </p:nvSpPr>
        <p:spPr>
          <a:xfrm>
            <a:off x="850879" y="4407991"/>
            <a:ext cx="10489938" cy="12700"/>
          </a:xfrm>
          <a:prstGeom prst="rect">
            <a:avLst/>
          </a:prstGeom>
          <a:solidFill>
            <a:srgbClr val="1A1A1A"/>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58786" y="388620"/>
            <a:ext cx="6177205"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0"/>
              </a:rPr>
              <a:t>DATASET / EDA</a:t>
            </a:r>
            <a:endParaRPr lang="en-US" sz="1300" dirty="0"/>
          </a:p>
        </p:txBody>
      </p:sp>
      <p:sp>
        <p:nvSpPr>
          <p:cNvPr id="3" name="Text 1"/>
          <p:cNvSpPr/>
          <p:nvPr/>
        </p:nvSpPr>
        <p:spPr>
          <a:xfrm>
            <a:off x="558786" y="709660"/>
            <a:ext cx="5897812" cy="863600"/>
          </a:xfrm>
          <a:prstGeom prst="rect">
            <a:avLst/>
          </a:prstGeom>
          <a:noFill/>
          <a:ln/>
        </p:spPr>
        <p:txBody>
          <a:bodyPr wrap="square" lIns="0" tIns="0" rIns="0" bIns="0" rtlCol="0" anchor="t">
            <a:normAutofit/>
          </a:bodyPr>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0"/>
              </a:rPr>
              <a:t>The dataset contains 43 classes and real-world variation</a:t>
            </a:r>
            <a:endParaRPr lang="en-US" sz="3400" dirty="0"/>
          </a:p>
        </p:txBody>
      </p:sp>
      <p:sp>
        <p:nvSpPr>
          <p:cNvPr id="4" name="Text 2"/>
          <p:cNvSpPr/>
          <p:nvPr/>
        </p:nvSpPr>
        <p:spPr>
          <a:xfrm>
            <a:off x="558786" y="1872996"/>
            <a:ext cx="5897812" cy="1254720"/>
          </a:xfrm>
          <a:prstGeom prst="rect">
            <a:avLst/>
          </a:prstGeom>
          <a:noFill/>
          <a:ln/>
        </p:spPr>
        <p:txBody>
          <a:bodyPr wrap="none" lIns="0" tIns="0" rIns="0" bIns="0" rtlCol="0" anchor="t"/>
          <a:lstStyle/>
          <a:p>
            <a:pPr algn="l" indent="0" marL="0">
              <a:lnSpc>
                <a:spcPct val="79000"/>
              </a:lnSpc>
              <a:buNone/>
            </a:pPr>
            <a:r>
              <a:rPr lang="en-US" sz="10400" spc="-468" kern="100" dirty="0">
                <a:solidFill>
                  <a:srgbClr val="121212"/>
                </a:solidFill>
                <a:latin typeface="Inter Tight SemiBold" pitchFamily="34" charset="0"/>
                <a:ea typeface="Inter Tight SemiBold" pitchFamily="34" charset="-122"/>
                <a:cs typeface="Inter Tight SemiBold" pitchFamily="34" charset="0"/>
              </a:rPr>
              <a:t>43</a:t>
            </a:r>
            <a:endParaRPr lang="en-US" sz="10400" dirty="0"/>
          </a:p>
        </p:txBody>
      </p:sp>
      <p:sp>
        <p:nvSpPr>
          <p:cNvPr id="5" name="Text 3"/>
          <p:cNvSpPr/>
          <p:nvPr/>
        </p:nvSpPr>
        <p:spPr>
          <a:xfrm>
            <a:off x="558786" y="3180279"/>
            <a:ext cx="6177205"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TRAFFIC-SIGN CLASSES</a:t>
            </a:r>
            <a:endParaRPr lang="en-US" sz="1300" dirty="0"/>
          </a:p>
        </p:txBody>
      </p:sp>
      <p:sp>
        <p:nvSpPr>
          <p:cNvPr id="6" name="Text 4"/>
          <p:cNvSpPr/>
          <p:nvPr/>
        </p:nvSpPr>
        <p:spPr>
          <a:xfrm>
            <a:off x="558786" y="3594596"/>
            <a:ext cx="5897812" cy="2201763"/>
          </a:xfrm>
          <a:prstGeom prst="rect">
            <a:avLst/>
          </a:prstGeom>
          <a:noFill/>
          <a:ln/>
        </p:spPr>
        <p:txBody>
          <a:bodyPr wrap="square" lIns="0" tIns="0" rIns="0" bIns="0" rtlCol="0" anchor="t">
            <a:normAutofit/>
          </a:bodyPr>
          <a:lstStyle/>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0"/>
              </a:rPr>
              <a:t>DataMites TrafSignDetc dataset with separate class directories</a:t>
            </a:r>
            <a:endParaRPr lang="en-US" sz="1700" dirty="0"/>
          </a:p>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0"/>
              </a:rPr>
              <a:t>Varied image resolutions, lighting, and viewing angles</a:t>
            </a:r>
            <a:endParaRPr lang="en-US" sz="1700" dirty="0"/>
          </a:p>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0"/>
              </a:rPr>
              <a:t>EDA checked readability, dimensions, colour modes, class counts, and sample images</a:t>
            </a:r>
            <a:endParaRPr lang="en-US" sz="1700" dirty="0"/>
          </a:p>
          <a:p>
            <a:pPr algn="l" marL="345440" indent="-345440">
              <a:lnSpc>
                <a:spcPct val="112000"/>
              </a:lnSpc>
              <a:buSzPct val="100000"/>
              <a:buChar char="•"/>
            </a:pPr>
            <a:r>
              <a:rPr lang="en-US" sz="1700" dirty="0">
                <a:solidFill>
                  <a:srgbClr val="1A1A1A"/>
                </a:solidFill>
                <a:latin typeface="Inter Tight" pitchFamily="34" charset="0"/>
                <a:ea typeface="Inter Tight" pitchFamily="34" charset="-122"/>
                <a:cs typeface="Inter Tight" pitchFamily="34" charset="0"/>
              </a:rPr>
              <a:t>Memory-efficient loading and class weights addressed practical constraints</a:t>
            </a:r>
            <a:endParaRPr lang="en-US" sz="1700" dirty="0"/>
          </a:p>
        </p:txBody>
      </p:sp>
      <p:sp>
        <p:nvSpPr>
          <p:cNvPr id="7" name="Shape 5"/>
          <p:cNvSpPr/>
          <p:nvPr/>
        </p:nvSpPr>
        <p:spPr>
          <a:xfrm>
            <a:off x="7040684" y="0"/>
            <a:ext cx="5151011" cy="6858000"/>
          </a:xfrm>
          <a:prstGeom prst="rect">
            <a:avLst/>
          </a:prstGeom>
          <a:solidFill>
            <a:srgbClr val="A186F3"/>
          </a:solidFill>
          <a:ln/>
        </p:spPr>
      </p:sp>
      <p:pic>
        <p:nvPicPr>
          <p:cNvPr id="8" name="Image 0" descr="preencoded.png">    </p:cNvPr>
          <p:cNvPicPr>
            <a:picLocks noChangeAspect="1"/>
          </p:cNvPicPr>
          <p:nvPr/>
        </p:nvPicPr>
        <p:blipFill>
          <a:blip r:embed="rId1"/>
          <a:stretch>
            <a:fillRect/>
          </a:stretch>
        </p:blipFill>
        <p:spPr>
          <a:xfrm>
            <a:off x="7040684" y="0"/>
            <a:ext cx="1615340" cy="6858000"/>
          </a:xfrm>
          <a:prstGeom prst="rect">
            <a:avLst/>
          </a:prstGeom>
        </p:spPr>
      </p:pic>
      <p:pic>
        <p:nvPicPr>
          <p:cNvPr id="9" name="Image 1" descr="preencoded.png">    </p:cNvPr>
          <p:cNvPicPr>
            <a:picLocks noChangeAspect="1"/>
          </p:cNvPicPr>
          <p:nvPr/>
        </p:nvPicPr>
        <p:blipFill>
          <a:blip r:embed="rId2"/>
          <a:stretch>
            <a:fillRect/>
          </a:stretch>
        </p:blipFill>
        <p:spPr>
          <a:xfrm>
            <a:off x="8808420" y="0"/>
            <a:ext cx="1615439" cy="6858000"/>
          </a:xfrm>
          <a:prstGeom prst="rect">
            <a:avLst/>
          </a:prstGeom>
        </p:spPr>
      </p:pic>
      <p:pic>
        <p:nvPicPr>
          <p:cNvPr id="10" name="Image 2" descr="preencoded.png">    </p:cNvPr>
          <p:cNvPicPr>
            <a:picLocks noChangeAspect="1"/>
          </p:cNvPicPr>
          <p:nvPr/>
        </p:nvPicPr>
        <p:blipFill>
          <a:blip r:embed="rId3"/>
          <a:stretch>
            <a:fillRect/>
          </a:stretch>
        </p:blipFill>
        <p:spPr>
          <a:xfrm>
            <a:off x="10576256" y="0"/>
            <a:ext cx="1615439"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8786" y="425895"/>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0"/>
              </a:rPr>
              <a:t>Preprocessing creates a consistent learning input</a:t>
            </a:r>
            <a:endParaRPr lang="en-US" sz="3400" dirty="0"/>
          </a:p>
        </p:txBody>
      </p:sp>
      <p:sp>
        <p:nvSpPr>
          <p:cNvPr id="3" name="Text 1"/>
          <p:cNvSpPr/>
          <p:nvPr/>
        </p:nvSpPr>
        <p:spPr>
          <a:xfrm>
            <a:off x="558786" y="1036796"/>
            <a:ext cx="11632909" cy="291405"/>
          </a:xfrm>
          <a:prstGeom prst="rect">
            <a:avLst/>
          </a:prstGeom>
          <a:noFill/>
          <a:ln/>
        </p:spPr>
        <p:txBody>
          <a:bodyPr wrap="none" lIns="0" tIns="0" rIns="0" bIns="0" rtlCol="0" anchor="t"/>
          <a:lstStyle/>
          <a:p>
            <a:pPr algn="l" indent="0" marL="0">
              <a:lnSpc>
                <a:spcPct val="112000"/>
              </a:lnSpc>
              <a:buNone/>
            </a:pPr>
            <a:r>
              <a:rPr lang="en-US" sz="1700" dirty="0">
                <a:solidFill>
                  <a:srgbClr val="1A1A1A"/>
                </a:solidFill>
                <a:latin typeface="Inter Tight" pitchFamily="34" charset="0"/>
                <a:ea typeface="Inter Tight" pitchFamily="34" charset="-122"/>
                <a:cs typeface="Inter Tight" pitchFamily="34" charset="0"/>
              </a:rPr>
              <a:t>Every image follows the same path before optimization.</a:t>
            </a:r>
            <a:endParaRPr lang="en-US" sz="1700" dirty="0"/>
          </a:p>
        </p:txBody>
      </p:sp>
      <p:sp>
        <p:nvSpPr>
          <p:cNvPr id="4" name="Text 2"/>
          <p:cNvSpPr/>
          <p:nvPr/>
        </p:nvSpPr>
        <p:spPr>
          <a:xfrm>
            <a:off x="558786" y="1497905"/>
            <a:ext cx="882826" cy="215900"/>
          </a:xfrm>
          <a:prstGeom prst="rect">
            <a:avLst/>
          </a:prstGeom>
          <a:noFill/>
          <a:ln/>
        </p:spPr>
        <p:txBody>
          <a:bodyPr wrap="none" lIns="0" tIns="0" rIns="0" bIns="0" rtlCol="0" anchor="t"/>
          <a:lstStyle/>
          <a:p>
            <a:pPr algn="l" indent="0" marL="0">
              <a:lnSpc>
                <a:spcPct val="83000"/>
              </a:lnSpc>
              <a:buNone/>
            </a:pPr>
            <a:r>
              <a:rPr lang="en-US" sz="1700" dirty="0">
                <a:solidFill>
                  <a:srgbClr val="1A1A1A"/>
                </a:solidFill>
                <a:latin typeface="Inter Tight SemiBold" pitchFamily="34" charset="0"/>
                <a:ea typeface="Inter Tight SemiBold" pitchFamily="34" charset="-122"/>
                <a:cs typeface="Inter Tight SemiBold" pitchFamily="34" charset="0"/>
              </a:rPr>
              <a:t>01</a:t>
            </a:r>
            <a:endParaRPr lang="en-US" sz="1700" dirty="0"/>
          </a:p>
        </p:txBody>
      </p:sp>
      <p:sp>
        <p:nvSpPr>
          <p:cNvPr id="5" name="Shape 3"/>
          <p:cNvSpPr/>
          <p:nvPr/>
        </p:nvSpPr>
        <p:spPr>
          <a:xfrm>
            <a:off x="558786" y="1800126"/>
            <a:ext cx="1971030" cy="19050"/>
          </a:xfrm>
          <a:prstGeom prst="rect">
            <a:avLst/>
          </a:prstGeom>
          <a:solidFill>
            <a:srgbClr val="A186F3"/>
          </a:solidFill>
          <a:ln/>
        </p:spPr>
      </p:sp>
      <p:sp>
        <p:nvSpPr>
          <p:cNvPr id="6" name="Text 4"/>
          <p:cNvSpPr/>
          <p:nvPr/>
        </p:nvSpPr>
        <p:spPr>
          <a:xfrm>
            <a:off x="558786" y="1963737"/>
            <a:ext cx="197103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Resize</a:t>
            </a:r>
            <a:endParaRPr lang="en-US" sz="1900" dirty="0"/>
          </a:p>
        </p:txBody>
      </p:sp>
      <p:sp>
        <p:nvSpPr>
          <p:cNvPr id="7" name="Text 5"/>
          <p:cNvSpPr/>
          <p:nvPr/>
        </p:nvSpPr>
        <p:spPr>
          <a:xfrm>
            <a:off x="558786" y="2410381"/>
            <a:ext cx="1971030" cy="497086"/>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0"/>
              </a:rPr>
              <a:t>Every image becomes 64 × 64 pixels.</a:t>
            </a:r>
            <a:endParaRPr lang="en-US" sz="1450" dirty="0"/>
          </a:p>
        </p:txBody>
      </p:sp>
      <p:sp>
        <p:nvSpPr>
          <p:cNvPr id="8" name="Text 6"/>
          <p:cNvSpPr/>
          <p:nvPr/>
        </p:nvSpPr>
        <p:spPr>
          <a:xfrm>
            <a:off x="2834510" y="1497905"/>
            <a:ext cx="882826" cy="215900"/>
          </a:xfrm>
          <a:prstGeom prst="rect">
            <a:avLst/>
          </a:prstGeom>
          <a:noFill/>
          <a:ln/>
        </p:spPr>
        <p:txBody>
          <a:bodyPr wrap="none" lIns="0" tIns="0" rIns="0" bIns="0" rtlCol="0" anchor="t"/>
          <a:lstStyle/>
          <a:p>
            <a:pPr algn="l" indent="0" marL="0">
              <a:lnSpc>
                <a:spcPct val="83000"/>
              </a:lnSpc>
              <a:buNone/>
            </a:pPr>
            <a:r>
              <a:rPr lang="en-US" sz="1700" dirty="0">
                <a:solidFill>
                  <a:srgbClr val="1A1A1A"/>
                </a:solidFill>
                <a:latin typeface="Inter Tight SemiBold" pitchFamily="34" charset="0"/>
                <a:ea typeface="Inter Tight SemiBold" pitchFamily="34" charset="-122"/>
                <a:cs typeface="Inter Tight SemiBold" pitchFamily="34" charset="0"/>
              </a:rPr>
              <a:t>02</a:t>
            </a:r>
            <a:endParaRPr lang="en-US" sz="1700" dirty="0"/>
          </a:p>
        </p:txBody>
      </p:sp>
      <p:sp>
        <p:nvSpPr>
          <p:cNvPr id="9" name="Shape 7"/>
          <p:cNvSpPr/>
          <p:nvPr/>
        </p:nvSpPr>
        <p:spPr>
          <a:xfrm>
            <a:off x="2834510" y="1800126"/>
            <a:ext cx="1971030" cy="19050"/>
          </a:xfrm>
          <a:prstGeom prst="rect">
            <a:avLst/>
          </a:prstGeom>
          <a:solidFill>
            <a:srgbClr val="A186F3"/>
          </a:solidFill>
          <a:ln/>
        </p:spPr>
      </p:sp>
      <p:sp>
        <p:nvSpPr>
          <p:cNvPr id="10" name="Text 8"/>
          <p:cNvSpPr/>
          <p:nvPr/>
        </p:nvSpPr>
        <p:spPr>
          <a:xfrm>
            <a:off x="2834510" y="1963737"/>
            <a:ext cx="197103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Convert</a:t>
            </a:r>
            <a:endParaRPr lang="en-US" sz="1900" dirty="0"/>
          </a:p>
        </p:txBody>
      </p:sp>
      <p:sp>
        <p:nvSpPr>
          <p:cNvPr id="11" name="Text 9"/>
          <p:cNvSpPr/>
          <p:nvPr/>
        </p:nvSpPr>
        <p:spPr>
          <a:xfrm>
            <a:off x="2834510" y="2410381"/>
            <a:ext cx="1971030" cy="497086"/>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0"/>
              </a:rPr>
              <a:t>RGB with three channels.</a:t>
            </a:r>
            <a:endParaRPr lang="en-US" sz="1450" dirty="0"/>
          </a:p>
        </p:txBody>
      </p:sp>
      <p:sp>
        <p:nvSpPr>
          <p:cNvPr id="12" name="Text 10"/>
          <p:cNvSpPr/>
          <p:nvPr/>
        </p:nvSpPr>
        <p:spPr>
          <a:xfrm>
            <a:off x="5110233" y="1497905"/>
            <a:ext cx="882826" cy="215900"/>
          </a:xfrm>
          <a:prstGeom prst="rect">
            <a:avLst/>
          </a:prstGeom>
          <a:noFill/>
          <a:ln/>
        </p:spPr>
        <p:txBody>
          <a:bodyPr wrap="none" lIns="0" tIns="0" rIns="0" bIns="0" rtlCol="0" anchor="t"/>
          <a:lstStyle/>
          <a:p>
            <a:pPr algn="l" indent="0" marL="0">
              <a:lnSpc>
                <a:spcPct val="83000"/>
              </a:lnSpc>
              <a:buNone/>
            </a:pPr>
            <a:r>
              <a:rPr lang="en-US" sz="1700" dirty="0">
                <a:solidFill>
                  <a:srgbClr val="1A1A1A"/>
                </a:solidFill>
                <a:latin typeface="Inter Tight SemiBold" pitchFamily="34" charset="0"/>
                <a:ea typeface="Inter Tight SemiBold" pitchFamily="34" charset="-122"/>
                <a:cs typeface="Inter Tight SemiBold" pitchFamily="34" charset="0"/>
              </a:rPr>
              <a:t>03</a:t>
            </a:r>
            <a:endParaRPr lang="en-US" sz="1700" dirty="0"/>
          </a:p>
        </p:txBody>
      </p:sp>
      <p:sp>
        <p:nvSpPr>
          <p:cNvPr id="13" name="Shape 11"/>
          <p:cNvSpPr/>
          <p:nvPr/>
        </p:nvSpPr>
        <p:spPr>
          <a:xfrm>
            <a:off x="5110233" y="1800126"/>
            <a:ext cx="1971130" cy="19050"/>
          </a:xfrm>
          <a:prstGeom prst="rect">
            <a:avLst/>
          </a:prstGeom>
          <a:solidFill>
            <a:srgbClr val="A186F3"/>
          </a:solidFill>
          <a:ln/>
        </p:spPr>
      </p:sp>
      <p:sp>
        <p:nvSpPr>
          <p:cNvPr id="14" name="Text 12"/>
          <p:cNvSpPr/>
          <p:nvPr/>
        </p:nvSpPr>
        <p:spPr>
          <a:xfrm>
            <a:off x="5110233" y="1963737"/>
            <a:ext cx="197113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Normalize</a:t>
            </a:r>
            <a:endParaRPr lang="en-US" sz="1900" dirty="0"/>
          </a:p>
        </p:txBody>
      </p:sp>
      <p:sp>
        <p:nvSpPr>
          <p:cNvPr id="15" name="Text 13"/>
          <p:cNvSpPr/>
          <p:nvPr/>
        </p:nvSpPr>
        <p:spPr>
          <a:xfrm>
            <a:off x="5110233" y="2410381"/>
            <a:ext cx="1971130" cy="497086"/>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0"/>
              </a:rPr>
              <a:t>Pixel values move from 0–255 to 0–1.</a:t>
            </a:r>
            <a:endParaRPr lang="en-US" sz="1450" dirty="0"/>
          </a:p>
        </p:txBody>
      </p:sp>
      <p:sp>
        <p:nvSpPr>
          <p:cNvPr id="16" name="Text 14"/>
          <p:cNvSpPr/>
          <p:nvPr/>
        </p:nvSpPr>
        <p:spPr>
          <a:xfrm>
            <a:off x="7386056" y="1497905"/>
            <a:ext cx="882628" cy="215900"/>
          </a:xfrm>
          <a:prstGeom prst="rect">
            <a:avLst/>
          </a:prstGeom>
          <a:noFill/>
          <a:ln/>
        </p:spPr>
        <p:txBody>
          <a:bodyPr wrap="none" lIns="0" tIns="0" rIns="0" bIns="0" rtlCol="0" anchor="t"/>
          <a:lstStyle/>
          <a:p>
            <a:pPr algn="l" indent="0" marL="0">
              <a:lnSpc>
                <a:spcPct val="83000"/>
              </a:lnSpc>
              <a:buNone/>
            </a:pPr>
            <a:r>
              <a:rPr lang="en-US" sz="1700" dirty="0">
                <a:solidFill>
                  <a:srgbClr val="1A1A1A"/>
                </a:solidFill>
                <a:latin typeface="Inter Tight SemiBold" pitchFamily="34" charset="0"/>
                <a:ea typeface="Inter Tight SemiBold" pitchFamily="34" charset="-122"/>
                <a:cs typeface="Inter Tight SemiBold" pitchFamily="34" charset="0"/>
              </a:rPr>
              <a:t>04</a:t>
            </a:r>
            <a:endParaRPr lang="en-US" sz="1700" dirty="0"/>
          </a:p>
        </p:txBody>
      </p:sp>
      <p:sp>
        <p:nvSpPr>
          <p:cNvPr id="17" name="Shape 15"/>
          <p:cNvSpPr/>
          <p:nvPr/>
        </p:nvSpPr>
        <p:spPr>
          <a:xfrm>
            <a:off x="7386056" y="1800126"/>
            <a:ext cx="1971030" cy="19050"/>
          </a:xfrm>
          <a:prstGeom prst="rect">
            <a:avLst/>
          </a:prstGeom>
          <a:solidFill>
            <a:srgbClr val="A186F3"/>
          </a:solidFill>
          <a:ln/>
        </p:spPr>
      </p:sp>
      <p:sp>
        <p:nvSpPr>
          <p:cNvPr id="18" name="Text 16"/>
          <p:cNvSpPr/>
          <p:nvPr/>
        </p:nvSpPr>
        <p:spPr>
          <a:xfrm>
            <a:off x="7386056" y="1963737"/>
            <a:ext cx="197103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Augment</a:t>
            </a:r>
            <a:endParaRPr lang="en-US" sz="1900" dirty="0"/>
          </a:p>
        </p:txBody>
      </p:sp>
      <p:sp>
        <p:nvSpPr>
          <p:cNvPr id="19" name="Text 17"/>
          <p:cNvSpPr/>
          <p:nvPr/>
        </p:nvSpPr>
        <p:spPr>
          <a:xfrm>
            <a:off x="7386056" y="2410381"/>
            <a:ext cx="1971030" cy="994172"/>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0"/>
              </a:rPr>
              <a:t>Rotation ±11°, translation and zoom up to 10%, contrast up to 20%.</a:t>
            </a:r>
            <a:endParaRPr lang="en-US" sz="1450" dirty="0"/>
          </a:p>
        </p:txBody>
      </p:sp>
      <p:sp>
        <p:nvSpPr>
          <p:cNvPr id="20" name="Text 18"/>
          <p:cNvSpPr/>
          <p:nvPr/>
        </p:nvSpPr>
        <p:spPr>
          <a:xfrm>
            <a:off x="9661779" y="1497905"/>
            <a:ext cx="882826" cy="215900"/>
          </a:xfrm>
          <a:prstGeom prst="rect">
            <a:avLst/>
          </a:prstGeom>
          <a:noFill/>
          <a:ln/>
        </p:spPr>
        <p:txBody>
          <a:bodyPr wrap="none" lIns="0" tIns="0" rIns="0" bIns="0" rtlCol="0" anchor="t"/>
          <a:lstStyle/>
          <a:p>
            <a:pPr algn="l" indent="0" marL="0">
              <a:lnSpc>
                <a:spcPct val="83000"/>
              </a:lnSpc>
              <a:buNone/>
            </a:pPr>
            <a:r>
              <a:rPr lang="en-US" sz="1700" dirty="0">
                <a:solidFill>
                  <a:srgbClr val="1A1A1A"/>
                </a:solidFill>
                <a:latin typeface="Inter Tight SemiBold" pitchFamily="34" charset="0"/>
                <a:ea typeface="Inter Tight SemiBold" pitchFamily="34" charset="-122"/>
                <a:cs typeface="Inter Tight SemiBold" pitchFamily="34" charset="0"/>
              </a:rPr>
              <a:t>05</a:t>
            </a:r>
            <a:endParaRPr lang="en-US" sz="1700" dirty="0"/>
          </a:p>
        </p:txBody>
      </p:sp>
      <p:sp>
        <p:nvSpPr>
          <p:cNvPr id="21" name="Shape 19"/>
          <p:cNvSpPr/>
          <p:nvPr/>
        </p:nvSpPr>
        <p:spPr>
          <a:xfrm>
            <a:off x="9661779" y="1800126"/>
            <a:ext cx="1971130" cy="19050"/>
          </a:xfrm>
          <a:prstGeom prst="rect">
            <a:avLst/>
          </a:prstGeom>
          <a:solidFill>
            <a:srgbClr val="A186F3"/>
          </a:solidFill>
          <a:ln/>
        </p:spPr>
      </p:sp>
      <p:sp>
        <p:nvSpPr>
          <p:cNvPr id="22" name="Text 20"/>
          <p:cNvSpPr/>
          <p:nvPr/>
        </p:nvSpPr>
        <p:spPr>
          <a:xfrm>
            <a:off x="9661779" y="1963737"/>
            <a:ext cx="1971130"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121212"/>
                </a:solidFill>
                <a:latin typeface="Inter Tight" pitchFamily="34" charset="0"/>
                <a:ea typeface="Inter Tight" pitchFamily="34" charset="-122"/>
                <a:cs typeface="Inter Tight" pitchFamily="34" charset="0"/>
              </a:rPr>
              <a:t>Protect meaning</a:t>
            </a:r>
            <a:endParaRPr lang="en-US" sz="1900" dirty="0"/>
          </a:p>
        </p:txBody>
      </p:sp>
      <p:sp>
        <p:nvSpPr>
          <p:cNvPr id="23" name="Text 21"/>
          <p:cNvSpPr/>
          <p:nvPr/>
        </p:nvSpPr>
        <p:spPr>
          <a:xfrm>
            <a:off x="9661779" y="2410381"/>
            <a:ext cx="1971130" cy="745629"/>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0"/>
              </a:rPr>
              <a:t>No horizontal flipping because it can change sign meaning.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8786" y="425895"/>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0"/>
              </a:rPr>
              <a:t>A stratified split protects the final evaluation</a:t>
            </a:r>
            <a:endParaRPr lang="en-US" sz="3400" dirty="0"/>
          </a:p>
        </p:txBody>
      </p:sp>
      <p:sp>
        <p:nvSpPr>
          <p:cNvPr id="3" name="Shape 1"/>
          <p:cNvSpPr/>
          <p:nvPr/>
        </p:nvSpPr>
        <p:spPr>
          <a:xfrm>
            <a:off x="558786" y="1028700"/>
            <a:ext cx="6724085" cy="375841"/>
          </a:xfrm>
          <a:prstGeom prst="rect">
            <a:avLst/>
          </a:prstGeom>
          <a:solidFill>
            <a:srgbClr val="1A1A1A"/>
          </a:solidFill>
          <a:ln/>
        </p:spPr>
      </p:sp>
      <p:sp>
        <p:nvSpPr>
          <p:cNvPr id="4" name="Text 2"/>
          <p:cNvSpPr/>
          <p:nvPr/>
        </p:nvSpPr>
        <p:spPr>
          <a:xfrm>
            <a:off x="711182" y="1125220"/>
            <a:ext cx="657168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0"/>
              </a:rPr>
              <a:t>DATASET_SPLIT.PLT</a:t>
            </a:r>
            <a:endParaRPr lang="en-US" sz="1300" dirty="0"/>
          </a:p>
        </p:txBody>
      </p:sp>
      <p:sp>
        <p:nvSpPr>
          <p:cNvPr id="5" name="Shape 3"/>
          <p:cNvSpPr/>
          <p:nvPr/>
        </p:nvSpPr>
        <p:spPr>
          <a:xfrm>
            <a:off x="558786" y="1404541"/>
            <a:ext cx="6724085" cy="5072459"/>
          </a:xfrm>
          <a:prstGeom prst="rect">
            <a:avLst/>
          </a:prstGeom>
          <a:solidFill>
            <a:srgbClr val="E6E6EA"/>
          </a:solidFill>
          <a:ln w="12700">
            <a:solidFill>
              <a:srgbClr val="1A1A1A"/>
            </a:solidFill>
            <a:prstDash val="solid"/>
          </a:ln>
        </p:spPr>
      </p:sp>
      <p:pic>
        <p:nvPicPr>
          <p:cNvPr id="6" name="Image 0" descr="preencoded.png">    </p:cNvPr>
          <p:cNvPicPr>
            <a:picLocks noChangeAspect="1"/>
          </p:cNvPicPr>
          <p:nvPr/>
        </p:nvPicPr>
        <p:blipFill>
          <a:blip r:embed="rId1"/>
          <a:stretch>
            <a:fillRect/>
          </a:stretch>
        </p:blipFill>
        <p:spPr>
          <a:xfrm>
            <a:off x="800080" y="1569641"/>
            <a:ext cx="6241497" cy="3343672"/>
          </a:xfrm>
          <a:prstGeom prst="rect">
            <a:avLst/>
          </a:prstGeom>
        </p:spPr>
      </p:pic>
      <p:sp>
        <p:nvSpPr>
          <p:cNvPr id="7" name="Shape 4"/>
          <p:cNvSpPr/>
          <p:nvPr/>
        </p:nvSpPr>
        <p:spPr>
          <a:xfrm>
            <a:off x="7739960" y="2605385"/>
            <a:ext cx="3892949" cy="31651"/>
          </a:xfrm>
          <a:prstGeom prst="roundRect">
            <a:avLst>
              <a:gd name="adj" fmla="val 49998"/>
            </a:avLst>
          </a:prstGeom>
          <a:solidFill>
            <a:srgbClr val="1A1A1A"/>
          </a:solidFill>
          <a:ln/>
        </p:spPr>
      </p:sp>
      <p:sp>
        <p:nvSpPr>
          <p:cNvPr id="8" name="Text 5"/>
          <p:cNvSpPr/>
          <p:nvPr/>
        </p:nvSpPr>
        <p:spPr>
          <a:xfrm>
            <a:off x="7739960" y="2897485"/>
            <a:ext cx="3892949" cy="1143000"/>
          </a:xfrm>
          <a:prstGeom prst="rect">
            <a:avLst/>
          </a:prstGeom>
          <a:noFill/>
          <a:ln/>
        </p:spPr>
        <p:txBody>
          <a:bodyPr wrap="square" lIns="0" tIns="0" rIns="0" bIns="0" rtlCol="0" anchor="t">
            <a:normAutofit/>
          </a:bodyPr>
          <a:lstStyle/>
          <a:p>
            <a:pPr algn="l" indent="0" marL="0">
              <a:lnSpc>
                <a:spcPct val="104000"/>
              </a:lnSpc>
              <a:buNone/>
            </a:pPr>
            <a:r>
              <a:rPr lang="en-US" sz="2400" spc="-12" kern="100" dirty="0">
                <a:solidFill>
                  <a:srgbClr val="121212"/>
                </a:solidFill>
                <a:latin typeface="Inter Tight" pitchFamily="34" charset="0"/>
                <a:ea typeface="Inter Tight" pitchFamily="34" charset="-122"/>
                <a:cs typeface="Inter Tight" pitchFamily="34" charset="0"/>
              </a:rPr>
              <a:t>Training receives most images while validation and test remain equal-sized.</a:t>
            </a:r>
            <a:endParaRPr lang="en-US" sz="2400" dirty="0"/>
          </a:p>
        </p:txBody>
      </p:sp>
      <p:sp>
        <p:nvSpPr>
          <p:cNvPr id="9" name="Text 6"/>
          <p:cNvSpPr/>
          <p:nvPr/>
        </p:nvSpPr>
        <p:spPr>
          <a:xfrm>
            <a:off x="7739960" y="4181773"/>
            <a:ext cx="3892949" cy="770830"/>
          </a:xfrm>
          <a:prstGeom prst="rect">
            <a:avLst/>
          </a:prstGeom>
          <a:noFill/>
          <a:ln/>
        </p:spPr>
        <p:txBody>
          <a:bodyPr wrap="square" lIns="0" tIns="0" rIns="0" bIns="0" rtlCol="0" anchor="t"/>
          <a:lstStyle/>
          <a:p>
            <a:pPr algn="l" indent="0" marL="0">
              <a:lnSpc>
                <a:spcPct val="108000"/>
              </a:lnSpc>
              <a:spcAft>
                <a:spcPts val="950"/>
              </a:spcAft>
              <a:buNone/>
            </a:pPr>
            <a:r>
              <a:rPr lang="en-US" sz="1300" dirty="0">
                <a:solidFill>
                  <a:srgbClr val="262626"/>
                </a:solidFill>
                <a:latin typeface="Fragment Mono" pitchFamily="34" charset="0"/>
                <a:ea typeface="Fragment Mono" pitchFamily="34" charset="-122"/>
                <a:cs typeface="Fragment Mono" pitchFamily="34" charset="0"/>
              </a:rPr>
              <a:t>TOTAL WORKING DATASET: 15,460 IMAGES</a:t>
            </a:r>
            <a:endParaRPr lang="en-US" sz="1300" dirty="0"/>
          </a:p>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TRAINING 70% · VALIDATION 15% · TESTING 15%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8786" y="425895"/>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0"/>
              </a:rPr>
              <a:t>The CNN learns visual features before predicting 43 classes</a:t>
            </a:r>
            <a:endParaRPr lang="en-US" sz="3400" dirty="0"/>
          </a:p>
        </p:txBody>
      </p:sp>
      <p:pic>
        <p:nvPicPr>
          <p:cNvPr id="3" name="Image 0" descr="preencoded.png">    </p:cNvPr>
          <p:cNvPicPr>
            <a:picLocks noChangeAspect="1"/>
          </p:cNvPicPr>
          <p:nvPr/>
        </p:nvPicPr>
        <p:blipFill>
          <a:blip r:embed="rId1"/>
          <a:stretch>
            <a:fillRect/>
          </a:stretch>
        </p:blipFill>
        <p:spPr>
          <a:xfrm>
            <a:off x="1685684" y="1006475"/>
            <a:ext cx="8820227" cy="3809901"/>
          </a:xfrm>
          <a:prstGeom prst="rect">
            <a:avLst/>
          </a:prstGeom>
        </p:spPr>
      </p:pic>
      <p:sp>
        <p:nvSpPr>
          <p:cNvPr id="4" name="Text 1"/>
          <p:cNvSpPr/>
          <p:nvPr/>
        </p:nvSpPr>
        <p:spPr>
          <a:xfrm>
            <a:off x="2111974" y="1350466"/>
            <a:ext cx="1308494" cy="279309"/>
          </a:xfrm>
          <a:prstGeom prst="rect">
            <a:avLst/>
          </a:prstGeom>
          <a:noFill/>
          <a:ln/>
        </p:spPr>
        <p:txBody>
          <a:bodyPr wrap="none" lIns="0" tIns="0" rIns="0" bIns="0" rtlCol="0" anchor="t"/>
          <a:lstStyle/>
          <a:p>
            <a:pPr algn="ctr" indent="0" marL="0">
              <a:lnSpc>
                <a:spcPct val="104000"/>
              </a:lnSpc>
              <a:buNone/>
            </a:pPr>
            <a:r>
              <a:rPr lang="en-US" sz="1750" spc="-62" kern="100" dirty="0">
                <a:solidFill>
                  <a:srgbClr val="1A1A1A"/>
                </a:solidFill>
                <a:latin typeface="Inter Tight SemiBold" pitchFamily="34" charset="0"/>
                <a:ea typeface="Inter Tight SemiBold" pitchFamily="34" charset="-122"/>
                <a:cs typeface="Inter Tight SemiBold" pitchFamily="34" charset="0"/>
              </a:rPr>
              <a:t>Input</a:t>
            </a:r>
            <a:endParaRPr lang="en-US" sz="1750" dirty="0"/>
          </a:p>
        </p:txBody>
      </p:sp>
      <p:sp>
        <p:nvSpPr>
          <p:cNvPr id="5" name="Text 2"/>
          <p:cNvSpPr/>
          <p:nvPr/>
        </p:nvSpPr>
        <p:spPr>
          <a:xfrm>
            <a:off x="2111974" y="1721378"/>
            <a:ext cx="1308494" cy="206082"/>
          </a:xfrm>
          <a:prstGeom prst="rect">
            <a:avLst/>
          </a:prstGeom>
          <a:noFill/>
          <a:ln/>
        </p:spPr>
        <p:txBody>
          <a:bodyPr wrap="none" lIns="0" tIns="0" rIns="0" bIns="0" rtlCol="0" anchor="t"/>
          <a:lstStyle/>
          <a:p>
            <a:pPr algn="ctr" indent="0" marL="0">
              <a:lnSpc>
                <a:spcPct val="113000"/>
              </a:lnSpc>
              <a:buNone/>
            </a:pPr>
            <a:r>
              <a:rPr lang="en-US" sz="1200" dirty="0">
                <a:solidFill>
                  <a:srgbClr val="1A1A1A"/>
                </a:solidFill>
                <a:latin typeface="Inter Tight" pitchFamily="34" charset="0"/>
                <a:ea typeface="Inter Tight" pitchFamily="34" charset="-122"/>
                <a:cs typeface="Inter Tight" pitchFamily="34" charset="0"/>
              </a:rPr>
              <a:t>64×64×3 image</a:t>
            </a:r>
            <a:endParaRPr lang="en-US" sz="1200" dirty="0"/>
          </a:p>
        </p:txBody>
      </p:sp>
      <p:sp>
        <p:nvSpPr>
          <p:cNvPr id="6" name="Text 3"/>
          <p:cNvSpPr/>
          <p:nvPr/>
        </p:nvSpPr>
        <p:spPr>
          <a:xfrm>
            <a:off x="3787788" y="3598170"/>
            <a:ext cx="1308494" cy="279309"/>
          </a:xfrm>
          <a:prstGeom prst="rect">
            <a:avLst/>
          </a:prstGeom>
          <a:noFill/>
          <a:ln/>
        </p:spPr>
        <p:txBody>
          <a:bodyPr wrap="none" lIns="0" tIns="0" rIns="0" bIns="0" rtlCol="0" anchor="t"/>
          <a:lstStyle/>
          <a:p>
            <a:pPr algn="ctr" indent="0" marL="0">
              <a:lnSpc>
                <a:spcPct val="104000"/>
              </a:lnSpc>
              <a:buNone/>
            </a:pPr>
            <a:r>
              <a:rPr lang="en-US" sz="1750" spc="-62" kern="100" dirty="0">
                <a:solidFill>
                  <a:srgbClr val="1A1A1A"/>
                </a:solidFill>
                <a:latin typeface="Inter Tight SemiBold" pitchFamily="34" charset="0"/>
                <a:ea typeface="Inter Tight SemiBold" pitchFamily="34" charset="-122"/>
                <a:cs typeface="Inter Tight SemiBold" pitchFamily="34" charset="0"/>
              </a:rPr>
              <a:t>Convolution</a:t>
            </a:r>
            <a:endParaRPr lang="en-US" sz="1750" dirty="0"/>
          </a:p>
        </p:txBody>
      </p:sp>
      <p:sp>
        <p:nvSpPr>
          <p:cNvPr id="7" name="Text 4"/>
          <p:cNvSpPr/>
          <p:nvPr/>
        </p:nvSpPr>
        <p:spPr>
          <a:xfrm>
            <a:off x="3787788" y="3969082"/>
            <a:ext cx="1308494" cy="412165"/>
          </a:xfrm>
          <a:prstGeom prst="rect">
            <a:avLst/>
          </a:prstGeom>
          <a:noFill/>
          <a:ln/>
        </p:spPr>
        <p:txBody>
          <a:bodyPr wrap="square" lIns="0" tIns="0" rIns="0" bIns="0" rtlCol="0" anchor="t">
            <a:normAutofit/>
          </a:bodyPr>
          <a:lstStyle/>
          <a:p>
            <a:pPr algn="ctr" indent="0" marL="0">
              <a:lnSpc>
                <a:spcPct val="113000"/>
              </a:lnSpc>
              <a:buNone/>
            </a:pPr>
            <a:r>
              <a:rPr lang="en-US" sz="1200" dirty="0">
                <a:solidFill>
                  <a:srgbClr val="1A1A1A"/>
                </a:solidFill>
                <a:latin typeface="Inter Tight" pitchFamily="34" charset="0"/>
                <a:ea typeface="Inter Tight" pitchFamily="34" charset="-122"/>
                <a:cs typeface="Inter Tight" pitchFamily="34" charset="0"/>
              </a:rPr>
              <a:t>Learn edges, shapes, colours</a:t>
            </a:r>
            <a:endParaRPr lang="en-US" sz="1200" dirty="0"/>
          </a:p>
        </p:txBody>
      </p:sp>
      <p:sp>
        <p:nvSpPr>
          <p:cNvPr id="8" name="Text 5"/>
          <p:cNvSpPr/>
          <p:nvPr/>
        </p:nvSpPr>
        <p:spPr>
          <a:xfrm>
            <a:off x="5490061" y="1350466"/>
            <a:ext cx="1308495" cy="279309"/>
          </a:xfrm>
          <a:prstGeom prst="rect">
            <a:avLst/>
          </a:prstGeom>
          <a:noFill/>
          <a:ln/>
        </p:spPr>
        <p:txBody>
          <a:bodyPr wrap="none" lIns="0" tIns="0" rIns="0" bIns="0" rtlCol="0" anchor="t"/>
          <a:lstStyle/>
          <a:p>
            <a:pPr algn="ctr" indent="0" marL="0">
              <a:lnSpc>
                <a:spcPct val="104000"/>
              </a:lnSpc>
              <a:buNone/>
            </a:pPr>
            <a:r>
              <a:rPr lang="en-US" sz="1750" spc="-62" kern="100" dirty="0">
                <a:solidFill>
                  <a:srgbClr val="1A1A1A"/>
                </a:solidFill>
                <a:latin typeface="Inter Tight SemiBold" pitchFamily="34" charset="0"/>
                <a:ea typeface="Inter Tight SemiBold" pitchFamily="34" charset="-122"/>
                <a:cs typeface="Inter Tight SemiBold" pitchFamily="34" charset="0"/>
              </a:rPr>
              <a:t>Max Pooling</a:t>
            </a:r>
            <a:endParaRPr lang="en-US" sz="1750" dirty="0"/>
          </a:p>
        </p:txBody>
      </p:sp>
      <p:sp>
        <p:nvSpPr>
          <p:cNvPr id="9" name="Text 6"/>
          <p:cNvSpPr/>
          <p:nvPr/>
        </p:nvSpPr>
        <p:spPr>
          <a:xfrm>
            <a:off x="5490061" y="1721378"/>
            <a:ext cx="1308495" cy="412165"/>
          </a:xfrm>
          <a:prstGeom prst="rect">
            <a:avLst/>
          </a:prstGeom>
          <a:noFill/>
          <a:ln/>
        </p:spPr>
        <p:txBody>
          <a:bodyPr wrap="square" lIns="0" tIns="0" rIns="0" bIns="0" rtlCol="0" anchor="t">
            <a:normAutofit/>
          </a:bodyPr>
          <a:lstStyle/>
          <a:p>
            <a:pPr algn="ctr" indent="0" marL="0">
              <a:lnSpc>
                <a:spcPct val="113000"/>
              </a:lnSpc>
              <a:buNone/>
            </a:pPr>
            <a:r>
              <a:rPr lang="en-US" sz="1200" dirty="0">
                <a:solidFill>
                  <a:srgbClr val="1A1A1A"/>
                </a:solidFill>
                <a:latin typeface="Inter Tight" pitchFamily="34" charset="0"/>
                <a:ea typeface="Inter Tight" pitchFamily="34" charset="-122"/>
                <a:cs typeface="Inter Tight" pitchFamily="34" charset="0"/>
              </a:rPr>
              <a:t>Reduce feature-map dimensions</a:t>
            </a:r>
            <a:endParaRPr lang="en-US" sz="1200" dirty="0"/>
          </a:p>
        </p:txBody>
      </p:sp>
      <p:sp>
        <p:nvSpPr>
          <p:cNvPr id="10" name="Text 7"/>
          <p:cNvSpPr/>
          <p:nvPr/>
        </p:nvSpPr>
        <p:spPr>
          <a:xfrm>
            <a:off x="7157055" y="3598170"/>
            <a:ext cx="1308494" cy="279309"/>
          </a:xfrm>
          <a:prstGeom prst="rect">
            <a:avLst/>
          </a:prstGeom>
          <a:noFill/>
          <a:ln/>
        </p:spPr>
        <p:txBody>
          <a:bodyPr wrap="none" lIns="0" tIns="0" rIns="0" bIns="0" rtlCol="0" anchor="t"/>
          <a:lstStyle/>
          <a:p>
            <a:pPr algn="ctr" indent="0" marL="0">
              <a:lnSpc>
                <a:spcPct val="104000"/>
              </a:lnSpc>
              <a:buNone/>
            </a:pPr>
            <a:r>
              <a:rPr lang="en-US" sz="1750" spc="-62" kern="100" dirty="0">
                <a:solidFill>
                  <a:srgbClr val="1A1A1A"/>
                </a:solidFill>
                <a:latin typeface="Inter Tight SemiBold" pitchFamily="34" charset="0"/>
                <a:ea typeface="Inter Tight SemiBold" pitchFamily="34" charset="-122"/>
                <a:cs typeface="Inter Tight SemiBold" pitchFamily="34" charset="0"/>
              </a:rPr>
              <a:t>Dense Layers</a:t>
            </a:r>
            <a:endParaRPr lang="en-US" sz="1750" dirty="0"/>
          </a:p>
        </p:txBody>
      </p:sp>
      <p:sp>
        <p:nvSpPr>
          <p:cNvPr id="11" name="Text 8"/>
          <p:cNvSpPr/>
          <p:nvPr/>
        </p:nvSpPr>
        <p:spPr>
          <a:xfrm>
            <a:off x="7157055" y="3969082"/>
            <a:ext cx="1308494" cy="412165"/>
          </a:xfrm>
          <a:prstGeom prst="rect">
            <a:avLst/>
          </a:prstGeom>
          <a:noFill/>
          <a:ln/>
        </p:spPr>
        <p:txBody>
          <a:bodyPr wrap="square" lIns="0" tIns="0" rIns="0" bIns="0" rtlCol="0" anchor="t">
            <a:normAutofit/>
          </a:bodyPr>
          <a:lstStyle/>
          <a:p>
            <a:pPr algn="ctr" indent="0" marL="0">
              <a:lnSpc>
                <a:spcPct val="113000"/>
              </a:lnSpc>
              <a:buNone/>
            </a:pPr>
            <a:r>
              <a:rPr lang="en-US" sz="1200" dirty="0">
                <a:solidFill>
                  <a:srgbClr val="1A1A1A"/>
                </a:solidFill>
                <a:latin typeface="Inter Tight" pitchFamily="34" charset="0"/>
                <a:ea typeface="Inter Tight" pitchFamily="34" charset="-122"/>
                <a:cs typeface="Inter Tight" pitchFamily="34" charset="0"/>
              </a:rPr>
              <a:t>Learn class-specific patterns</a:t>
            </a:r>
            <a:endParaRPr lang="en-US" sz="1200" dirty="0"/>
          </a:p>
        </p:txBody>
      </p:sp>
      <p:sp>
        <p:nvSpPr>
          <p:cNvPr id="12" name="Text 9"/>
          <p:cNvSpPr/>
          <p:nvPr/>
        </p:nvSpPr>
        <p:spPr>
          <a:xfrm>
            <a:off x="8779948" y="1350466"/>
            <a:ext cx="1308494" cy="279309"/>
          </a:xfrm>
          <a:prstGeom prst="rect">
            <a:avLst/>
          </a:prstGeom>
          <a:noFill/>
          <a:ln/>
        </p:spPr>
        <p:txBody>
          <a:bodyPr wrap="none" lIns="0" tIns="0" rIns="0" bIns="0" rtlCol="0" anchor="t"/>
          <a:lstStyle/>
          <a:p>
            <a:pPr algn="ctr" indent="0" marL="0">
              <a:lnSpc>
                <a:spcPct val="104000"/>
              </a:lnSpc>
              <a:buNone/>
            </a:pPr>
            <a:r>
              <a:rPr lang="en-US" sz="1750" spc="-62" kern="100" dirty="0">
                <a:solidFill>
                  <a:srgbClr val="1A1A1A"/>
                </a:solidFill>
                <a:latin typeface="Inter Tight SemiBold" pitchFamily="34" charset="0"/>
                <a:ea typeface="Inter Tight SemiBold" pitchFamily="34" charset="-122"/>
                <a:cs typeface="Inter Tight SemiBold" pitchFamily="34" charset="0"/>
              </a:rPr>
              <a:t>Softmax</a:t>
            </a:r>
            <a:endParaRPr lang="en-US" sz="1750" dirty="0"/>
          </a:p>
        </p:txBody>
      </p:sp>
      <p:sp>
        <p:nvSpPr>
          <p:cNvPr id="13" name="Text 10"/>
          <p:cNvSpPr/>
          <p:nvPr/>
        </p:nvSpPr>
        <p:spPr>
          <a:xfrm>
            <a:off x="8779948" y="1721378"/>
            <a:ext cx="1308494" cy="412165"/>
          </a:xfrm>
          <a:prstGeom prst="rect">
            <a:avLst/>
          </a:prstGeom>
          <a:noFill/>
          <a:ln/>
        </p:spPr>
        <p:txBody>
          <a:bodyPr wrap="square" lIns="0" tIns="0" rIns="0" bIns="0" rtlCol="0" anchor="t">
            <a:normAutofit/>
          </a:bodyPr>
          <a:lstStyle/>
          <a:p>
            <a:pPr algn="ctr" indent="0" marL="0">
              <a:lnSpc>
                <a:spcPct val="113000"/>
              </a:lnSpc>
              <a:buNone/>
            </a:pPr>
            <a:r>
              <a:rPr lang="en-US" sz="1200" dirty="0">
                <a:solidFill>
                  <a:srgbClr val="1A1A1A"/>
                </a:solidFill>
                <a:latin typeface="Inter Tight" pitchFamily="34" charset="0"/>
                <a:ea typeface="Inter Tight" pitchFamily="34" charset="-122"/>
                <a:cs typeface="Inter Tight" pitchFamily="34" charset="0"/>
              </a:rPr>
              <a:t>Probabilities for 43 classes</a:t>
            </a:r>
            <a:endParaRPr lang="en-US" sz="1200" dirty="0"/>
          </a:p>
        </p:txBody>
      </p:sp>
      <p:sp>
        <p:nvSpPr>
          <p:cNvPr id="14" name="Text 11"/>
          <p:cNvSpPr/>
          <p:nvPr/>
        </p:nvSpPr>
        <p:spPr>
          <a:xfrm>
            <a:off x="558786" y="4905593"/>
            <a:ext cx="11632909"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FEATURE EXTRACTION PRECEDES CLASS PREDICTION.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8786" y="425895"/>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0"/>
              </a:rPr>
              <a:t>Hyperparameter tuning selected the final configuration</a:t>
            </a:r>
            <a:endParaRPr lang="en-US" sz="3400" dirty="0"/>
          </a:p>
        </p:txBody>
      </p:sp>
      <p:sp>
        <p:nvSpPr>
          <p:cNvPr id="3" name="Shape 1"/>
          <p:cNvSpPr/>
          <p:nvPr/>
        </p:nvSpPr>
        <p:spPr>
          <a:xfrm>
            <a:off x="558786" y="965200"/>
            <a:ext cx="5384665" cy="375841"/>
          </a:xfrm>
          <a:prstGeom prst="rect">
            <a:avLst/>
          </a:prstGeom>
          <a:solidFill>
            <a:srgbClr val="1A1A1A"/>
          </a:solidFill>
          <a:ln/>
        </p:spPr>
      </p:sp>
      <p:sp>
        <p:nvSpPr>
          <p:cNvPr id="4" name="Text 2"/>
          <p:cNvSpPr/>
          <p:nvPr/>
        </p:nvSpPr>
        <p:spPr>
          <a:xfrm>
            <a:off x="711182" y="1061720"/>
            <a:ext cx="523226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0"/>
              </a:rPr>
              <a:t>BASELINE.CONFIG</a:t>
            </a:r>
            <a:endParaRPr lang="en-US" sz="1300" dirty="0"/>
          </a:p>
        </p:txBody>
      </p:sp>
      <p:sp>
        <p:nvSpPr>
          <p:cNvPr id="5" name="Shape 3"/>
          <p:cNvSpPr/>
          <p:nvPr/>
        </p:nvSpPr>
        <p:spPr>
          <a:xfrm>
            <a:off x="558786" y="1341041"/>
            <a:ext cx="5384665" cy="5161359"/>
          </a:xfrm>
          <a:prstGeom prst="rect">
            <a:avLst/>
          </a:prstGeom>
          <a:solidFill>
            <a:srgbClr val="E6E6EA"/>
          </a:solidFill>
          <a:ln w="12700">
            <a:solidFill>
              <a:srgbClr val="1A1A1A"/>
            </a:solidFill>
            <a:prstDash val="solid"/>
          </a:ln>
        </p:spPr>
      </p:sp>
      <p:sp>
        <p:nvSpPr>
          <p:cNvPr id="6" name="Text 4"/>
          <p:cNvSpPr/>
          <p:nvPr/>
        </p:nvSpPr>
        <p:spPr>
          <a:xfrm>
            <a:off x="825479" y="1597422"/>
            <a:ext cx="4851279"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0"/>
              </a:rPr>
              <a:t>Baseline</a:t>
            </a:r>
            <a:endParaRPr lang="en-US" sz="1900" dirty="0"/>
          </a:p>
        </p:txBody>
      </p:sp>
      <p:sp>
        <p:nvSpPr>
          <p:cNvPr id="7" name="Text 5"/>
          <p:cNvSpPr/>
          <p:nvPr/>
        </p:nvSpPr>
        <p:spPr>
          <a:xfrm>
            <a:off x="825479" y="2039541"/>
            <a:ext cx="4851279" cy="982166"/>
          </a:xfrm>
          <a:prstGeom prst="rect">
            <a:avLst/>
          </a:prstGeom>
          <a:noFill/>
          <a:ln/>
        </p:spPr>
        <p:txBody>
          <a:bodyPr wrap="square" lIns="0" tIns="0" rIns="0" bIns="0" rtlCol="0" anchor="t">
            <a:normAutofit/>
          </a:bodyPr>
          <a:lstStyle/>
          <a:p>
            <a:pPr algn="l" marL="345440" indent="-345440">
              <a:lnSpc>
                <a:spcPct val="112000"/>
              </a:lnSpc>
              <a:buSzPct val="100000"/>
              <a:buChar char="•"/>
            </a:pPr>
            <a:r>
              <a:rPr lang="en-US" sz="1700" dirty="0">
                <a:solidFill>
                  <a:srgbClr val="000000"/>
                </a:solidFill>
                <a:latin typeface="Inter Tight" pitchFamily="34" charset="0"/>
                <a:ea typeface="Inter Tight" pitchFamily="34" charset="-122"/>
                <a:cs typeface="Inter Tight" pitchFamily="34" charset="0"/>
              </a:rPr>
              <a:t>Convolution, pooling, dense layers</a:t>
            </a:r>
            <a:endParaRPr lang="en-US" sz="1700" dirty="0"/>
          </a:p>
          <a:p>
            <a:pPr algn="l" marL="345440" indent="-345440">
              <a:lnSpc>
                <a:spcPct val="112000"/>
              </a:lnSpc>
              <a:buSzPct val="100000"/>
              <a:buChar char="•"/>
            </a:pPr>
            <a:r>
              <a:rPr lang="en-US" sz="1700" dirty="0">
                <a:solidFill>
                  <a:srgbClr val="000000"/>
                </a:solidFill>
                <a:latin typeface="Inter Tight" pitchFamily="34" charset="0"/>
                <a:ea typeface="Inter Tight" pitchFamily="34" charset="-122"/>
                <a:cs typeface="Inter Tight" pitchFamily="34" charset="0"/>
              </a:rPr>
              <a:t>Dropout and early stopping</a:t>
            </a:r>
            <a:endParaRPr lang="en-US" sz="1700" dirty="0"/>
          </a:p>
          <a:p>
            <a:pPr algn="l" marL="345440" indent="-345440">
              <a:lnSpc>
                <a:spcPct val="112000"/>
              </a:lnSpc>
              <a:buSzPct val="100000"/>
              <a:buChar char="•"/>
            </a:pPr>
            <a:r>
              <a:rPr lang="en-US" sz="1700" dirty="0">
                <a:solidFill>
                  <a:srgbClr val="000000"/>
                </a:solidFill>
                <a:latin typeface="Inter Tight" pitchFamily="34" charset="0"/>
                <a:ea typeface="Inter Tight" pitchFamily="34" charset="-122"/>
                <a:cs typeface="Inter Tight" pitchFamily="34" charset="0"/>
              </a:rPr>
              <a:t>Learning-rate reduction</a:t>
            </a:r>
            <a:endParaRPr lang="en-US" sz="1700" dirty="0"/>
          </a:p>
        </p:txBody>
      </p:sp>
      <p:sp>
        <p:nvSpPr>
          <p:cNvPr id="8" name="Shape 6"/>
          <p:cNvSpPr/>
          <p:nvPr/>
        </p:nvSpPr>
        <p:spPr>
          <a:xfrm>
            <a:off x="6248244" y="965200"/>
            <a:ext cx="5384665" cy="375841"/>
          </a:xfrm>
          <a:prstGeom prst="rect">
            <a:avLst/>
          </a:prstGeom>
          <a:solidFill>
            <a:srgbClr val="A186F3"/>
          </a:solidFill>
          <a:ln/>
        </p:spPr>
      </p:sp>
      <p:sp>
        <p:nvSpPr>
          <p:cNvPr id="9" name="Text 7"/>
          <p:cNvSpPr/>
          <p:nvPr/>
        </p:nvSpPr>
        <p:spPr>
          <a:xfrm>
            <a:off x="6400640" y="1061720"/>
            <a:ext cx="5232269"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000000"/>
                </a:solidFill>
                <a:latin typeface="Fragment Mono" pitchFamily="34" charset="0"/>
                <a:ea typeface="Fragment Mono" pitchFamily="34" charset="-122"/>
                <a:cs typeface="Fragment Mono" pitchFamily="34" charset="0"/>
              </a:rPr>
              <a:t>TUNED.CONFIG</a:t>
            </a:r>
            <a:endParaRPr lang="en-US" sz="1300" dirty="0"/>
          </a:p>
        </p:txBody>
      </p:sp>
      <p:sp>
        <p:nvSpPr>
          <p:cNvPr id="10" name="Shape 8"/>
          <p:cNvSpPr/>
          <p:nvPr/>
        </p:nvSpPr>
        <p:spPr>
          <a:xfrm>
            <a:off x="6248244" y="1341041"/>
            <a:ext cx="5384665" cy="5161359"/>
          </a:xfrm>
          <a:prstGeom prst="rect">
            <a:avLst/>
          </a:prstGeom>
          <a:solidFill>
            <a:srgbClr val="E6E6EA"/>
          </a:solidFill>
          <a:ln w="12700">
            <a:solidFill>
              <a:srgbClr val="1A1A1A"/>
            </a:solidFill>
            <a:prstDash val="solid"/>
          </a:ln>
        </p:spPr>
      </p:sp>
      <p:sp>
        <p:nvSpPr>
          <p:cNvPr id="11" name="Text 9"/>
          <p:cNvSpPr/>
          <p:nvPr/>
        </p:nvSpPr>
        <p:spPr>
          <a:xfrm>
            <a:off x="6514937" y="1597422"/>
            <a:ext cx="4851279" cy="301625"/>
          </a:xfrm>
          <a:prstGeom prst="rect">
            <a:avLst/>
          </a:prstGeom>
          <a:noFill/>
          <a:ln/>
        </p:spPr>
        <p:txBody>
          <a:bodyPr wrap="none" lIns="0" tIns="0" rIns="0" bIns="0" rtlCol="0" anchor="t"/>
          <a:lstStyle/>
          <a:p>
            <a:pPr algn="l" indent="0" marL="0">
              <a:lnSpc>
                <a:spcPct val="104000"/>
              </a:lnSpc>
              <a:buNone/>
            </a:pPr>
            <a:r>
              <a:rPr lang="en-US" sz="1900" spc="-9" kern="100" dirty="0">
                <a:solidFill>
                  <a:srgbClr val="000000"/>
                </a:solidFill>
                <a:latin typeface="Inter Tight" pitchFamily="34" charset="0"/>
                <a:ea typeface="Inter Tight" pitchFamily="34" charset="-122"/>
                <a:cs typeface="Inter Tight" pitchFamily="34" charset="0"/>
              </a:rPr>
              <a:t>Best configuration</a:t>
            </a:r>
            <a:endParaRPr lang="en-US" sz="1900" dirty="0"/>
          </a:p>
        </p:txBody>
      </p:sp>
      <p:sp>
        <p:nvSpPr>
          <p:cNvPr id="12" name="Text 10"/>
          <p:cNvSpPr/>
          <p:nvPr/>
        </p:nvSpPr>
        <p:spPr>
          <a:xfrm>
            <a:off x="6514937" y="2047637"/>
            <a:ext cx="4851279" cy="582811"/>
          </a:xfrm>
          <a:prstGeom prst="rect">
            <a:avLst/>
          </a:prstGeom>
          <a:noFill/>
          <a:ln/>
        </p:spPr>
        <p:txBody>
          <a:bodyPr wrap="square" lIns="0" tIns="0" rIns="0" bIns="0" rtlCol="0" anchor="t">
            <a:normAutofit/>
          </a:bodyPr>
          <a:lstStyle/>
          <a:p>
            <a:pPr algn="l" indent="0" marL="0">
              <a:lnSpc>
                <a:spcPct val="112000"/>
              </a:lnSpc>
              <a:buNone/>
            </a:pPr>
            <a:r>
              <a:rPr lang="en-US" sz="1700" b="1" dirty="0">
                <a:solidFill>
                  <a:srgbClr val="000000"/>
                </a:solidFill>
                <a:latin typeface="Inter Tight Bold" pitchFamily="34" charset="0"/>
                <a:ea typeface="Inter Tight Bold" pitchFamily="34" charset="-122"/>
                <a:cs typeface="Inter Tight Bold" pitchFamily="34" charset="0"/>
              </a:rPr>
              <a:t>Keras Tuner Random Search</a:t>
            </a:r>
            <a:pPr algn="l" indent="0" marL="0">
              <a:lnSpc>
                <a:spcPct val="112000"/>
              </a:lnSpc>
              <a:buNone/>
            </a:pPr>
            <a:r>
              <a:rPr lang="en-US" sz="1700" dirty="0">
                <a:solidFill>
                  <a:srgbClr val="000000"/>
                </a:solidFill>
                <a:latin typeface="Inter Tight" pitchFamily="34" charset="0"/>
                <a:ea typeface="Inter Tight" pitchFamily="34" charset="-122"/>
                <a:cs typeface="Inter Tight" pitchFamily="34" charset="0"/>
              </a:rPr>
              <a:t> tested eight combinations.</a:t>
            </a:r>
            <a:endParaRPr lang="en-US" sz="1700" dirty="0"/>
          </a:p>
        </p:txBody>
      </p:sp>
      <p:sp>
        <p:nvSpPr>
          <p:cNvPr id="13" name="Text 11"/>
          <p:cNvSpPr/>
          <p:nvPr/>
        </p:nvSpPr>
        <p:spPr>
          <a:xfrm>
            <a:off x="6514937" y="2749352"/>
            <a:ext cx="4851279" cy="872629"/>
          </a:xfrm>
          <a:prstGeom prst="rect">
            <a:avLst/>
          </a:prstGeom>
          <a:noFill/>
          <a:ln/>
        </p:spPr>
        <p:txBody>
          <a:bodyPr wrap="square" lIns="0" tIns="0" rIns="0" bIns="0" rtlCol="0" anchor="t">
            <a:normAutofit/>
          </a:bodyPr>
          <a:lstStyle/>
          <a:p>
            <a:pPr algn="l" indent="0" marL="0">
              <a:lnSpc>
                <a:spcPct val="113000"/>
              </a:lnSpc>
              <a:spcAft>
                <a:spcPts val="950"/>
              </a:spcAft>
              <a:buNone/>
            </a:pPr>
            <a:r>
              <a:rPr lang="en-US" sz="1450" dirty="0">
                <a:solidFill>
                  <a:srgbClr val="000000"/>
                </a:solidFill>
                <a:latin typeface="Inter Tight" pitchFamily="34" charset="0"/>
                <a:ea typeface="Inter Tight" pitchFamily="34" charset="-122"/>
                <a:cs typeface="Inter Tight" pitchFamily="34" charset="0"/>
              </a:rPr>
              <a:t>32 first-layer filters · 128 second-layer filters · 128 dense units</a:t>
            </a:r>
            <a:endParaRPr lang="en-US" sz="1450" dirty="0"/>
          </a:p>
          <a:p>
            <a:pPr algn="l" indent="0" marL="0">
              <a:lnSpc>
                <a:spcPct val="113000"/>
              </a:lnSpc>
              <a:buNone/>
            </a:pPr>
            <a:r>
              <a:rPr lang="en-US" sz="1450" dirty="0">
                <a:solidFill>
                  <a:srgbClr val="000000"/>
                </a:solidFill>
                <a:latin typeface="Inter Tight" pitchFamily="34" charset="0"/>
                <a:ea typeface="Inter Tight" pitchFamily="34" charset="-122"/>
                <a:cs typeface="Inter Tight" pitchFamily="34" charset="0"/>
              </a:rPr>
              <a:t>Dropout 0.4 · learning rate 0.001 · batch size 16</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8786" y="425895"/>
            <a:ext cx="11074123" cy="431800"/>
          </a:xfrm>
          <a:prstGeom prst="rect">
            <a:avLst/>
          </a:prstGeom>
          <a:noFill/>
          <a:ln/>
        </p:spPr>
        <p:txBody>
          <a:bodyPr wrap="none" lIns="0" tIns="0" rIns="0" bIns="0" rtlCol="0" anchor="t"/>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0"/>
              </a:rPr>
              <a:t>The tuned CNN reached 99.53% test accuracy</a:t>
            </a:r>
            <a:endParaRPr lang="en-US" sz="3400" dirty="0"/>
          </a:p>
        </p:txBody>
      </p:sp>
      <p:sp>
        <p:nvSpPr>
          <p:cNvPr id="3" name="Shape 1"/>
          <p:cNvSpPr/>
          <p:nvPr/>
        </p:nvSpPr>
        <p:spPr>
          <a:xfrm>
            <a:off x="558786" y="2613620"/>
            <a:ext cx="1470584" cy="336649"/>
          </a:xfrm>
          <a:prstGeom prst="rect">
            <a:avLst/>
          </a:prstGeom>
          <a:solidFill>
            <a:srgbClr val="1A1A1A"/>
          </a:solidFill>
          <a:ln/>
        </p:spPr>
      </p:sp>
      <p:sp>
        <p:nvSpPr>
          <p:cNvPr id="4" name="Text 2"/>
          <p:cNvSpPr/>
          <p:nvPr/>
        </p:nvSpPr>
        <p:spPr>
          <a:xfrm>
            <a:off x="688263" y="2683645"/>
            <a:ext cx="1821214" cy="207268"/>
          </a:xfrm>
          <a:prstGeom prst="rect">
            <a:avLst/>
          </a:prstGeom>
          <a:noFill/>
          <a:ln/>
        </p:spPr>
        <p:txBody>
          <a:bodyPr wrap="none" lIns="0" tIns="0" rIns="0" bIns="0" rtlCol="0" anchor="t"/>
          <a:lstStyle/>
          <a:p>
            <a:pPr algn="l" indent="0" marL="0">
              <a:lnSpc>
                <a:spcPct val="100000"/>
              </a:lnSpc>
              <a:buNone/>
            </a:pPr>
            <a:r>
              <a:rPr lang="en-US" sz="1350" spc="27" kern="100" dirty="0">
                <a:solidFill>
                  <a:srgbClr val="FFFFFF"/>
                </a:solidFill>
                <a:latin typeface="Fragment Mono" pitchFamily="34" charset="0"/>
                <a:ea typeface="Fragment Mono" pitchFamily="34" charset="-122"/>
                <a:cs typeface="Fragment Mono" pitchFamily="34" charset="0"/>
              </a:rPr>
              <a:t>TUNED MODEL</a:t>
            </a:r>
            <a:endParaRPr lang="en-US" sz="1350" dirty="0"/>
          </a:p>
        </p:txBody>
      </p:sp>
      <p:sp>
        <p:nvSpPr>
          <p:cNvPr id="5" name="Text 3"/>
          <p:cNvSpPr/>
          <p:nvPr/>
        </p:nvSpPr>
        <p:spPr>
          <a:xfrm>
            <a:off x="558786" y="3124260"/>
            <a:ext cx="3185041" cy="675580"/>
          </a:xfrm>
          <a:prstGeom prst="rect">
            <a:avLst/>
          </a:prstGeom>
          <a:noFill/>
          <a:ln/>
        </p:spPr>
        <p:txBody>
          <a:bodyPr wrap="none" lIns="0" tIns="0" rIns="0" bIns="0" rtlCol="0" anchor="t"/>
          <a:lstStyle/>
          <a:p>
            <a:pPr algn="l" indent="0" marL="0">
              <a:lnSpc>
                <a:spcPct val="79000"/>
              </a:lnSpc>
              <a:buNone/>
            </a:pPr>
            <a:r>
              <a:rPr lang="en-US" sz="5600" spc="-308" kern="100" dirty="0">
                <a:solidFill>
                  <a:srgbClr val="121212"/>
                </a:solidFill>
                <a:latin typeface="Inter Tight SemiBold" pitchFamily="34" charset="0"/>
                <a:ea typeface="Inter Tight SemiBold" pitchFamily="34" charset="-122"/>
                <a:cs typeface="Inter Tight SemiBold" pitchFamily="34" charset="0"/>
              </a:rPr>
              <a:t>99.53%</a:t>
            </a:r>
            <a:endParaRPr lang="en-US" sz="5600" dirty="0"/>
          </a:p>
        </p:txBody>
      </p:sp>
      <p:sp>
        <p:nvSpPr>
          <p:cNvPr id="6" name="Text 4"/>
          <p:cNvSpPr/>
          <p:nvPr/>
        </p:nvSpPr>
        <p:spPr>
          <a:xfrm>
            <a:off x="558786" y="3927475"/>
            <a:ext cx="3185041" cy="556220"/>
          </a:xfrm>
          <a:prstGeom prst="rect">
            <a:avLst/>
          </a:prstGeom>
          <a:noFill/>
          <a:ln/>
        </p:spPr>
        <p:txBody>
          <a:bodyPr wrap="square" lIns="0" tIns="0" rIns="0" bIns="0" rtlCol="0" anchor="t"/>
          <a:lstStyle/>
          <a:p>
            <a:pPr algn="l" indent="0" marL="0">
              <a:lnSpc>
                <a:spcPct val="108000"/>
              </a:lnSpc>
              <a:spcAft>
                <a:spcPts val="950"/>
              </a:spcAft>
              <a:buNone/>
            </a:pPr>
            <a:r>
              <a:rPr lang="en-US" sz="1300" dirty="0">
                <a:solidFill>
                  <a:srgbClr val="262626"/>
                </a:solidFill>
                <a:latin typeface="Fragment Mono" pitchFamily="34" charset="0"/>
                <a:ea typeface="Fragment Mono" pitchFamily="34" charset="-122"/>
                <a:cs typeface="Fragment Mono" pitchFamily="34" charset="0"/>
              </a:rPr>
              <a:t>TEST ACCURACY</a:t>
            </a:r>
            <a:endParaRPr lang="en-US" sz="1300" dirty="0"/>
          </a:p>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+0.18 PERCENTAGE POINTS</a:t>
            </a:r>
            <a:endParaRPr lang="en-US" sz="1300" dirty="0"/>
          </a:p>
        </p:txBody>
      </p:sp>
      <p:sp>
        <p:nvSpPr>
          <p:cNvPr id="7" name="Shape 5"/>
          <p:cNvSpPr/>
          <p:nvPr/>
        </p:nvSpPr>
        <p:spPr>
          <a:xfrm>
            <a:off x="4200916" y="1028700"/>
            <a:ext cx="7431993" cy="553641"/>
          </a:xfrm>
          <a:prstGeom prst="rect">
            <a:avLst/>
          </a:prstGeom>
          <a:solidFill>
            <a:srgbClr val="1A1A1A"/>
          </a:solidFill>
          <a:ln/>
        </p:spPr>
      </p:sp>
      <p:sp>
        <p:nvSpPr>
          <p:cNvPr id="8" name="Text 6"/>
          <p:cNvSpPr/>
          <p:nvPr/>
        </p:nvSpPr>
        <p:spPr>
          <a:xfrm>
            <a:off x="4353312" y="1214120"/>
            <a:ext cx="7279597"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0"/>
              </a:rPr>
              <a:t>MODEL_COMPARISON.PLT</a:t>
            </a:r>
            <a:endParaRPr lang="en-US" sz="1300" dirty="0"/>
          </a:p>
        </p:txBody>
      </p:sp>
      <p:sp>
        <p:nvSpPr>
          <p:cNvPr id="9" name="Shape 7"/>
          <p:cNvSpPr/>
          <p:nvPr/>
        </p:nvSpPr>
        <p:spPr>
          <a:xfrm>
            <a:off x="4200916" y="1582341"/>
            <a:ext cx="7431993" cy="4486374"/>
          </a:xfrm>
          <a:prstGeom prst="rect">
            <a:avLst/>
          </a:prstGeom>
          <a:solidFill>
            <a:srgbClr val="E6E6EA"/>
          </a:solidFill>
          <a:ln w="12700">
            <a:solidFill>
              <a:srgbClr val="1A1A1A"/>
            </a:solidFill>
            <a:prstDash val="solid"/>
          </a:ln>
        </p:spPr>
      </p:sp>
      <p:pic>
        <p:nvPicPr>
          <p:cNvPr id="10" name="Image 0" descr="preencoded.png">    </p:cNvPr>
          <p:cNvPicPr>
            <a:picLocks noChangeAspect="1"/>
          </p:cNvPicPr>
          <p:nvPr/>
        </p:nvPicPr>
        <p:blipFill>
          <a:blip r:embed="rId1"/>
          <a:stretch>
            <a:fillRect/>
          </a:stretch>
        </p:blipFill>
        <p:spPr>
          <a:xfrm>
            <a:off x="4416811" y="1823641"/>
            <a:ext cx="7000204" cy="3327995"/>
          </a:xfrm>
          <a:prstGeom prst="rect">
            <a:avLst/>
          </a:prstGeom>
        </p:spPr>
      </p:pic>
      <p:sp>
        <p:nvSpPr>
          <p:cNvPr id="11" name="Text 8"/>
          <p:cNvSpPr/>
          <p:nvPr/>
        </p:nvSpPr>
        <p:spPr>
          <a:xfrm>
            <a:off x="558786" y="6265882"/>
            <a:ext cx="11632909"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MACRO PRECISION: 99.41% → 99.57% · MACRO RECALL: 99.39% → 99.57%</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439420"/>
            <a:ext cx="11582110"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0"/>
              </a:rPr>
              <a:t>ERROR_ANALYSIS.LOG</a:t>
            </a:r>
            <a:endParaRPr lang="en-US" sz="1300" dirty="0"/>
          </a:p>
        </p:txBody>
      </p:sp>
      <p:sp>
        <p:nvSpPr>
          <p:cNvPr id="3" name="Text 1"/>
          <p:cNvSpPr/>
          <p:nvPr/>
        </p:nvSpPr>
        <p:spPr>
          <a:xfrm>
            <a:off x="609585" y="840979"/>
            <a:ext cx="10972526" cy="1930400"/>
          </a:xfrm>
          <a:prstGeom prst="rect">
            <a:avLst/>
          </a:prstGeom>
          <a:noFill/>
          <a:ln/>
        </p:spPr>
        <p:txBody>
          <a:bodyPr wrap="square" lIns="0" tIns="0" rIns="0" bIns="0" rtlCol="0" anchor="t">
            <a:normAutofit/>
          </a:bodyPr>
          <a:lstStyle/>
          <a:p>
            <a:pPr algn="l" indent="0" marL="0">
              <a:lnSpc>
                <a:spcPct val="79000"/>
              </a:lnSpc>
              <a:buNone/>
            </a:pPr>
            <a:r>
              <a:rPr lang="en-US" sz="8000" spc="-360" kern="100" dirty="0">
                <a:solidFill>
                  <a:srgbClr val="121212"/>
                </a:solidFill>
                <a:latin typeface="Inter Tight SemiBold" pitchFamily="34" charset="0"/>
                <a:ea typeface="Inter Tight SemiBold" pitchFamily="34" charset="-122"/>
                <a:cs typeface="Inter Tight SemiBold" pitchFamily="34" charset="0"/>
              </a:rPr>
              <a:t>Reliable at scale.</a:t>
            </a:r>
            <a:endParaRPr lang="en-US" sz="8000" dirty="0"/>
          </a:p>
          <a:p>
            <a:pPr algn="l" indent="0" marL="0">
              <a:lnSpc>
                <a:spcPct val="79000"/>
              </a:lnSpc>
              <a:buNone/>
            </a:pPr>
            <a:r>
              <a:rPr lang="en-US" sz="8000" spc="-360" kern="100" dirty="0">
                <a:solidFill>
                  <a:srgbClr val="121212"/>
                </a:solidFill>
                <a:latin typeface="Inter Tight SemiBold" pitchFamily="34" charset="0"/>
                <a:ea typeface="Inter Tight SemiBold" pitchFamily="34" charset="-122"/>
                <a:cs typeface="Inter Tight SemiBold" pitchFamily="34" charset="0"/>
              </a:rPr>
              <a:t>Still worth inspecting.</a:t>
            </a:r>
            <a:endParaRPr lang="en-US" sz="8000" dirty="0"/>
          </a:p>
        </p:txBody>
      </p:sp>
      <p:sp>
        <p:nvSpPr>
          <p:cNvPr id="4" name="Text 2"/>
          <p:cNvSpPr/>
          <p:nvPr/>
        </p:nvSpPr>
        <p:spPr>
          <a:xfrm>
            <a:off x="609585" y="3843636"/>
            <a:ext cx="3428914" cy="965200"/>
          </a:xfrm>
          <a:prstGeom prst="rect">
            <a:avLst/>
          </a:prstGeom>
          <a:noFill/>
          <a:ln/>
        </p:spPr>
        <p:txBody>
          <a:bodyPr wrap="none" lIns="0" tIns="0" rIns="0" bIns="0" rtlCol="0" anchor="t"/>
          <a:lstStyle/>
          <a:p>
            <a:pPr algn="l" indent="0" marL="0">
              <a:lnSpc>
                <a:spcPct val="79000"/>
              </a:lnSpc>
              <a:buNone/>
            </a:pPr>
            <a:r>
              <a:rPr lang="en-US" sz="8000" spc="-440" kern="100" dirty="0">
                <a:solidFill>
                  <a:srgbClr val="121212"/>
                </a:solidFill>
                <a:latin typeface="Inter Tight SemiBold" pitchFamily="34" charset="0"/>
                <a:ea typeface="Inter Tight SemiBold" pitchFamily="34" charset="-122"/>
                <a:cs typeface="Inter Tight SemiBold" pitchFamily="34" charset="0"/>
              </a:rPr>
              <a:t>11</a:t>
            </a:r>
            <a:endParaRPr lang="en-US" sz="8000" dirty="0"/>
          </a:p>
        </p:txBody>
      </p:sp>
      <p:sp>
        <p:nvSpPr>
          <p:cNvPr id="5" name="Text 3"/>
          <p:cNvSpPr/>
          <p:nvPr/>
        </p:nvSpPr>
        <p:spPr>
          <a:xfrm>
            <a:off x="609585" y="4902815"/>
            <a:ext cx="3657509"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MISCLASSIFIED IMAGES</a:t>
            </a:r>
            <a:endParaRPr lang="en-US" sz="1300" dirty="0"/>
          </a:p>
        </p:txBody>
      </p:sp>
      <p:sp>
        <p:nvSpPr>
          <p:cNvPr id="6" name="Text 4"/>
          <p:cNvSpPr/>
          <p:nvPr/>
        </p:nvSpPr>
        <p:spPr>
          <a:xfrm>
            <a:off x="4495688" y="3843636"/>
            <a:ext cx="3200320" cy="965200"/>
          </a:xfrm>
          <a:prstGeom prst="rect">
            <a:avLst/>
          </a:prstGeom>
          <a:noFill/>
          <a:ln/>
        </p:spPr>
        <p:txBody>
          <a:bodyPr wrap="none" lIns="0" tIns="0" rIns="0" bIns="0" rtlCol="0" anchor="t"/>
          <a:lstStyle/>
          <a:p>
            <a:pPr algn="l" indent="0" marL="0">
              <a:lnSpc>
                <a:spcPct val="79000"/>
              </a:lnSpc>
              <a:buNone/>
            </a:pPr>
            <a:r>
              <a:rPr lang="en-US" sz="8000" spc="-440" kern="100" dirty="0">
                <a:solidFill>
                  <a:srgbClr val="121212"/>
                </a:solidFill>
                <a:latin typeface="Inter Tight SemiBold" pitchFamily="34" charset="0"/>
                <a:ea typeface="Inter Tight SemiBold" pitchFamily="34" charset="-122"/>
                <a:cs typeface="Inter Tight SemiBold" pitchFamily="34" charset="0"/>
              </a:rPr>
              <a:t>2,308</a:t>
            </a:r>
            <a:endParaRPr lang="en-US" sz="8000" dirty="0"/>
          </a:p>
        </p:txBody>
      </p:sp>
      <p:sp>
        <p:nvSpPr>
          <p:cNvPr id="7" name="Text 5"/>
          <p:cNvSpPr/>
          <p:nvPr/>
        </p:nvSpPr>
        <p:spPr>
          <a:xfrm>
            <a:off x="4495688" y="4902815"/>
            <a:ext cx="3428914"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CLASSIFIED CORRECTLY</a:t>
            </a:r>
            <a:endParaRPr lang="en-US" sz="1300" dirty="0"/>
          </a:p>
        </p:txBody>
      </p:sp>
      <p:sp>
        <p:nvSpPr>
          <p:cNvPr id="8" name="Text 6"/>
          <p:cNvSpPr/>
          <p:nvPr/>
        </p:nvSpPr>
        <p:spPr>
          <a:xfrm>
            <a:off x="8153196" y="3732510"/>
            <a:ext cx="3428914"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121212"/>
                </a:solidFill>
                <a:latin typeface="Inter Tight" pitchFamily="34" charset="0"/>
                <a:ea typeface="Inter Tight" pitchFamily="34" charset="-122"/>
                <a:cs typeface="Inter Tight" pitchFamily="34" charset="0"/>
              </a:rPr>
              <a:t>2,319</a:t>
            </a:r>
            <a:endParaRPr lang="en-US" sz="2400" dirty="0"/>
          </a:p>
        </p:txBody>
      </p:sp>
      <p:sp>
        <p:nvSpPr>
          <p:cNvPr id="9" name="Text 7"/>
          <p:cNvSpPr/>
          <p:nvPr/>
        </p:nvSpPr>
        <p:spPr>
          <a:xfrm>
            <a:off x="8153196" y="4258290"/>
            <a:ext cx="3428914"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TEST IMAGES REVIEWED</a:t>
            </a:r>
            <a:endParaRPr lang="en-US" sz="1300" dirty="0"/>
          </a:p>
        </p:txBody>
      </p:sp>
      <p:sp>
        <p:nvSpPr>
          <p:cNvPr id="10" name="Text 8"/>
          <p:cNvSpPr/>
          <p:nvPr/>
        </p:nvSpPr>
        <p:spPr>
          <a:xfrm>
            <a:off x="609585" y="6189682"/>
            <a:ext cx="11582110" cy="214610"/>
          </a:xfrm>
          <a:prstGeom prst="rect">
            <a:avLst/>
          </a:prstGeom>
          <a:noFill/>
          <a:ln/>
        </p:spPr>
        <p:txBody>
          <a:bodyPr wrap="none" lIns="0" tIns="0" rIns="0" bIns="0" rtlCol="0" anchor="t"/>
          <a:lstStyle/>
          <a:p>
            <a:pPr algn="l" indent="0" marL="0">
              <a:lnSpc>
                <a:spcPct val="108000"/>
              </a:lnSpc>
              <a:buNone/>
            </a:pPr>
            <a:r>
              <a:rPr lang="en-US" sz="1300" dirty="0">
                <a:solidFill>
                  <a:srgbClr val="262626"/>
                </a:solidFill>
                <a:latin typeface="Fragment Mono" pitchFamily="34" charset="0"/>
                <a:ea typeface="Fragment Mono" pitchFamily="34" charset="-122"/>
                <a:cs typeface="Fragment Mono" pitchFamily="34" charset="0"/>
              </a:rPr>
              <a:t>CLASSIFICATION REPORTS · CONFUSION MATRIX · PER-CLASS F1-SCORES · VISUAL INSPECTION</a:t>
            </a:r>
            <a:endParaRPr lang="en-US" sz="1300" dirty="0"/>
          </a:p>
        </p:txBody>
      </p:sp>
      <p:sp>
        <p:nvSpPr>
          <p:cNvPr id="11" name="Shape 9"/>
          <p:cNvSpPr/>
          <p:nvPr/>
        </p:nvSpPr>
        <p:spPr>
          <a:xfrm>
            <a:off x="4260743" y="3718223"/>
            <a:ext cx="12700" cy="1395710"/>
          </a:xfrm>
          <a:prstGeom prst="rect">
            <a:avLst/>
          </a:prstGeom>
          <a:solidFill>
            <a:srgbClr val="1A1A1A"/>
          </a:solidFill>
          <a:ln/>
        </p:spPr>
      </p:sp>
      <p:sp>
        <p:nvSpPr>
          <p:cNvPr id="12" name="Shape 10"/>
          <p:cNvSpPr/>
          <p:nvPr/>
        </p:nvSpPr>
        <p:spPr>
          <a:xfrm>
            <a:off x="7918252" y="3718223"/>
            <a:ext cx="12700" cy="1395710"/>
          </a:xfrm>
          <a:prstGeom prst="rect">
            <a:avLst/>
          </a:prstGeom>
          <a:solidFill>
            <a:srgbClr val="1A1A1A"/>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58786" y="388620"/>
            <a:ext cx="6969645"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1A1A1A"/>
                </a:solidFill>
                <a:latin typeface="Fragment Mono" pitchFamily="34" charset="0"/>
                <a:ea typeface="Fragment Mono" pitchFamily="34" charset="-122"/>
                <a:cs typeface="Fragment Mono" pitchFamily="34" charset="0"/>
              </a:rPr>
              <a:t>REUSABLE INFERENCE / FUTURE SCOPE</a:t>
            </a:r>
            <a:endParaRPr lang="en-US" sz="1300" dirty="0"/>
          </a:p>
        </p:txBody>
      </p:sp>
      <p:sp>
        <p:nvSpPr>
          <p:cNvPr id="3" name="Text 1"/>
          <p:cNvSpPr/>
          <p:nvPr/>
        </p:nvSpPr>
        <p:spPr>
          <a:xfrm>
            <a:off x="558786" y="709660"/>
            <a:ext cx="6690252" cy="863600"/>
          </a:xfrm>
          <a:prstGeom prst="rect">
            <a:avLst/>
          </a:prstGeom>
          <a:noFill/>
          <a:ln/>
        </p:spPr>
        <p:txBody>
          <a:bodyPr wrap="square" lIns="0" tIns="0" rIns="0" bIns="0" rtlCol="0" anchor="t">
            <a:normAutofit/>
          </a:bodyPr>
          <a:lstStyle/>
          <a:p>
            <a:pPr algn="l" indent="0" marL="0">
              <a:lnSpc>
                <a:spcPct val="83000"/>
              </a:lnSpc>
              <a:buNone/>
            </a:pPr>
            <a:r>
              <a:rPr lang="en-US" sz="3400" spc="-119" kern="100" dirty="0">
                <a:solidFill>
                  <a:srgbClr val="121212"/>
                </a:solidFill>
                <a:latin typeface="Inter Tight SemiBold" pitchFamily="34" charset="0"/>
                <a:ea typeface="Inter Tight SemiBold" pitchFamily="34" charset="-122"/>
                <a:cs typeface="Inter Tight SemiBold" pitchFamily="34" charset="0"/>
              </a:rPr>
              <a:t>The project is reusable today and extensible tomorrow</a:t>
            </a:r>
            <a:endParaRPr lang="en-US" sz="3400" dirty="0"/>
          </a:p>
        </p:txBody>
      </p:sp>
      <p:sp>
        <p:nvSpPr>
          <p:cNvPr id="4" name="Shape 2"/>
          <p:cNvSpPr/>
          <p:nvPr/>
        </p:nvSpPr>
        <p:spPr>
          <a:xfrm>
            <a:off x="558786" y="1680766"/>
            <a:ext cx="6690252" cy="375841"/>
          </a:xfrm>
          <a:prstGeom prst="rect">
            <a:avLst/>
          </a:prstGeom>
          <a:solidFill>
            <a:srgbClr val="1A1A1A"/>
          </a:solidFill>
          <a:ln/>
        </p:spPr>
      </p:sp>
      <p:sp>
        <p:nvSpPr>
          <p:cNvPr id="5" name="Text 3"/>
          <p:cNvSpPr/>
          <p:nvPr/>
        </p:nvSpPr>
        <p:spPr>
          <a:xfrm>
            <a:off x="711182" y="1777286"/>
            <a:ext cx="6537856" cy="198041"/>
          </a:xfrm>
          <a:prstGeom prst="rect">
            <a:avLst/>
          </a:prstGeom>
          <a:noFill/>
          <a:ln/>
        </p:spPr>
        <p:txBody>
          <a:bodyPr wrap="none" lIns="0" tIns="0" rIns="0" bIns="0" rtlCol="0" anchor="t"/>
          <a:lstStyle/>
          <a:p>
            <a:pPr algn="l" indent="0" marL="0">
              <a:lnSpc>
                <a:spcPct val="100000"/>
              </a:lnSpc>
              <a:buNone/>
            </a:pPr>
            <a:r>
              <a:rPr lang="en-US" sz="1300" spc="52" kern="100" dirty="0">
                <a:solidFill>
                  <a:srgbClr val="FFFFFF"/>
                </a:solidFill>
                <a:latin typeface="Fragment Mono" pitchFamily="34" charset="0"/>
                <a:ea typeface="Fragment Mono" pitchFamily="34" charset="-122"/>
                <a:cs typeface="Fragment Mono" pitchFamily="34" charset="0"/>
              </a:rPr>
              <a:t>PREDICT_SIGN().PY</a:t>
            </a:r>
            <a:endParaRPr lang="en-US" sz="1300" dirty="0"/>
          </a:p>
        </p:txBody>
      </p:sp>
      <p:sp>
        <p:nvSpPr>
          <p:cNvPr id="6" name="Shape 4"/>
          <p:cNvSpPr/>
          <p:nvPr/>
        </p:nvSpPr>
        <p:spPr>
          <a:xfrm>
            <a:off x="558786" y="2056606"/>
            <a:ext cx="6690252" cy="1778397"/>
          </a:xfrm>
          <a:prstGeom prst="rect">
            <a:avLst/>
          </a:prstGeom>
          <a:solidFill>
            <a:srgbClr val="E6E6EA"/>
          </a:solidFill>
          <a:ln w="12700">
            <a:solidFill>
              <a:srgbClr val="1A1A1A"/>
            </a:solidFill>
            <a:prstDash val="solid"/>
          </a:ln>
        </p:spPr>
      </p:sp>
      <p:sp>
        <p:nvSpPr>
          <p:cNvPr id="7" name="Text 5"/>
          <p:cNvSpPr/>
          <p:nvPr/>
        </p:nvSpPr>
        <p:spPr>
          <a:xfrm>
            <a:off x="825479" y="2280603"/>
            <a:ext cx="6156866" cy="582811"/>
          </a:xfrm>
          <a:prstGeom prst="rect">
            <a:avLst/>
          </a:prstGeom>
          <a:noFill/>
          <a:ln/>
        </p:spPr>
        <p:txBody>
          <a:bodyPr wrap="square" lIns="0" tIns="0" rIns="0" bIns="0" rtlCol="0" anchor="t">
            <a:normAutofit/>
          </a:bodyPr>
          <a:lstStyle/>
          <a:p>
            <a:pPr algn="l" indent="0" marL="0">
              <a:lnSpc>
                <a:spcPct val="112000"/>
              </a:lnSpc>
              <a:buNone/>
            </a:pPr>
            <a:r>
              <a:rPr lang="en-US" sz="1700" dirty="0">
                <a:solidFill>
                  <a:srgbClr val="000000"/>
                </a:solidFill>
                <a:highlight>
                  <a:srgbClr val="E6E6EA"/>
                </a:highlight>
                <a:latin typeface="Consolas" pitchFamily="34" charset="0"/>
                <a:ea typeface="Consolas" pitchFamily="34" charset="-122"/>
                <a:cs typeface="Consolas" pitchFamily="34" charset="0"/>
              </a:rPr>
              <a:t>predict_sign()</a:t>
            </a:r>
            <a:pPr algn="l" indent="0" marL="0">
              <a:lnSpc>
                <a:spcPct val="112000"/>
              </a:lnSpc>
              <a:buNone/>
            </a:pPr>
            <a:r>
              <a:rPr lang="en-US" sz="1700" dirty="0">
                <a:solidFill>
                  <a:srgbClr val="000000"/>
                </a:solidFill>
                <a:latin typeface="Inter Tight" pitchFamily="34" charset="0"/>
                <a:ea typeface="Inter Tight" pitchFamily="34" charset="-122"/>
                <a:cs typeface="Inter Tight" pitchFamily="34" charset="0"/>
              </a:rPr>
              <a:t> preprocesses an image and returns the predicted sign, confidence, and top-three candidates.</a:t>
            </a:r>
            <a:endParaRPr lang="en-US" sz="1700" dirty="0"/>
          </a:p>
        </p:txBody>
      </p:sp>
      <p:sp>
        <p:nvSpPr>
          <p:cNvPr id="8" name="Text 6"/>
          <p:cNvSpPr/>
          <p:nvPr/>
        </p:nvSpPr>
        <p:spPr>
          <a:xfrm>
            <a:off x="825479" y="2982317"/>
            <a:ext cx="6156866" cy="636786"/>
          </a:xfrm>
          <a:prstGeom prst="rect">
            <a:avLst/>
          </a:prstGeom>
          <a:noFill/>
          <a:ln/>
        </p:spPr>
        <p:txBody>
          <a:bodyPr wrap="square" lIns="0" tIns="0" rIns="0" bIns="0" rtlCol="0" anchor="t"/>
          <a:lstStyle/>
          <a:p>
            <a:pPr algn="l" indent="0" marL="0">
              <a:lnSpc>
                <a:spcPct val="113000"/>
              </a:lnSpc>
              <a:spcAft>
                <a:spcPts val="950"/>
              </a:spcAft>
              <a:buNone/>
            </a:pPr>
            <a:r>
              <a:rPr lang="en-US" sz="1450" dirty="0">
                <a:solidFill>
                  <a:srgbClr val="000000"/>
                </a:solidFill>
                <a:highlight>
                  <a:srgbClr val="E6E6EA"/>
                </a:highlight>
                <a:latin typeface="Consolas" pitchFamily="34" charset="0"/>
                <a:ea typeface="Consolas" pitchFamily="34" charset="-122"/>
                <a:cs typeface="Consolas" pitchFamily="34" charset="0"/>
              </a:rPr>
              <a:t>TrafficSign_CNN_Model.keras</a:t>
            </a:r>
            <a:endParaRPr lang="en-US" sz="1450" dirty="0"/>
          </a:p>
          <a:p>
            <a:pPr algn="l" indent="0" marL="0">
              <a:lnSpc>
                <a:spcPct val="113000"/>
              </a:lnSpc>
              <a:buNone/>
            </a:pPr>
            <a:r>
              <a:rPr lang="en-US" sz="1450" dirty="0">
                <a:solidFill>
                  <a:srgbClr val="000000"/>
                </a:solidFill>
                <a:highlight>
                  <a:srgbClr val="E6E6EA"/>
                </a:highlight>
                <a:latin typeface="Consolas" pitchFamily="34" charset="0"/>
                <a:ea typeface="Consolas" pitchFamily="34" charset="-122"/>
                <a:cs typeface="Consolas" pitchFamily="34" charset="0"/>
              </a:rPr>
              <a:t>TrafficSign_class_names.json</a:t>
            </a:r>
            <a:endParaRPr lang="en-US" sz="1450" dirty="0"/>
          </a:p>
        </p:txBody>
      </p:sp>
      <p:sp>
        <p:nvSpPr>
          <p:cNvPr id="9" name="Text 7"/>
          <p:cNvSpPr/>
          <p:nvPr/>
        </p:nvSpPr>
        <p:spPr>
          <a:xfrm>
            <a:off x="558786" y="4027091"/>
            <a:ext cx="6690252" cy="381000"/>
          </a:xfrm>
          <a:prstGeom prst="rect">
            <a:avLst/>
          </a:prstGeom>
          <a:noFill/>
          <a:ln/>
        </p:spPr>
        <p:txBody>
          <a:bodyPr wrap="none" lIns="0" tIns="0" rIns="0" bIns="0" rtlCol="0" anchor="t"/>
          <a:lstStyle/>
          <a:p>
            <a:pPr algn="l" indent="0" marL="0">
              <a:lnSpc>
                <a:spcPct val="104000"/>
              </a:lnSpc>
              <a:buNone/>
            </a:pPr>
            <a:r>
              <a:rPr lang="en-US" sz="2400" spc="-12" kern="100" dirty="0">
                <a:solidFill>
                  <a:srgbClr val="121212"/>
                </a:solidFill>
                <a:latin typeface="Inter Tight" pitchFamily="34" charset="0"/>
                <a:ea typeface="Inter Tight" pitchFamily="34" charset="-122"/>
                <a:cs typeface="Inter Tight" pitchFamily="34" charset="0"/>
              </a:rPr>
              <a:t>Future scope</a:t>
            </a:r>
            <a:endParaRPr lang="en-US" sz="2400" dirty="0"/>
          </a:p>
        </p:txBody>
      </p:sp>
      <p:sp>
        <p:nvSpPr>
          <p:cNvPr id="10" name="Text 8"/>
          <p:cNvSpPr/>
          <p:nvPr/>
        </p:nvSpPr>
        <p:spPr>
          <a:xfrm>
            <a:off x="558786" y="4553903"/>
            <a:ext cx="6690252" cy="497086"/>
          </a:xfrm>
          <a:prstGeom prst="rect">
            <a:avLst/>
          </a:prstGeom>
          <a:noFill/>
          <a:ln/>
        </p:spPr>
        <p:txBody>
          <a:bodyPr wrap="square" lIns="0" tIns="0" rIns="0" bIns="0" rtlCol="0" anchor="t">
            <a:normAutofit/>
          </a:bodyPr>
          <a:lstStyle/>
          <a:p>
            <a:pPr algn="l" indent="0" marL="0">
              <a:lnSpc>
                <a:spcPct val="113000"/>
              </a:lnSpc>
              <a:buNone/>
            </a:pPr>
            <a:r>
              <a:rPr lang="en-US" sz="1450" dirty="0">
                <a:solidFill>
                  <a:srgbClr val="1A1A1A"/>
                </a:solidFill>
                <a:latin typeface="Inter Tight" pitchFamily="34" charset="0"/>
                <a:ea typeface="Inter Tight" pitchFamily="34" charset="-122"/>
                <a:cs typeface="Inter Tight" pitchFamily="34" charset="0"/>
              </a:rPr>
              <a:t>Live camera input · full-scene object detection · web/mobile deployment · broader real-world validation</a:t>
            </a:r>
            <a:endParaRPr lang="en-US" sz="1450" dirty="0"/>
          </a:p>
        </p:txBody>
      </p:sp>
      <p:sp>
        <p:nvSpPr>
          <p:cNvPr id="11" name="Shape 9"/>
          <p:cNvSpPr/>
          <p:nvPr/>
        </p:nvSpPr>
        <p:spPr>
          <a:xfrm>
            <a:off x="7833124" y="0"/>
            <a:ext cx="4358571" cy="6858000"/>
          </a:xfrm>
          <a:prstGeom prst="rect">
            <a:avLst/>
          </a:prstGeom>
          <a:solidFill>
            <a:srgbClr val="A186F3"/>
          </a:solidFill>
          <a:ln/>
        </p:spPr>
      </p:sp>
      <p:pic>
        <p:nvPicPr>
          <p:cNvPr id="12" name="Image 0" descr="preencoded.png">    </p:cNvPr>
          <p:cNvPicPr>
            <a:picLocks noChangeAspect="1"/>
          </p:cNvPicPr>
          <p:nvPr/>
        </p:nvPicPr>
        <p:blipFill>
          <a:blip r:embed="rId1"/>
          <a:stretch>
            <a:fillRect/>
          </a:stretch>
        </p:blipFill>
        <p:spPr>
          <a:xfrm>
            <a:off x="7833124" y="0"/>
            <a:ext cx="4358571"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2026-10-22T10:05:09Z</dcterms:created>
  <dcterms:modified xsi:type="dcterms:W3CDTF">2026-10-22T10:05:09Z</dcterms:modified>
</cp:coreProperties>
</file>